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5"/>
  </p:notesMasterIdLst>
  <p:handoutMasterIdLst>
    <p:handoutMasterId r:id="rId16"/>
  </p:handoutMasterIdLst>
  <p:sldIdLst>
    <p:sldId id="265" r:id="rId2"/>
    <p:sldId id="338" r:id="rId3"/>
    <p:sldId id="343" r:id="rId4"/>
    <p:sldId id="344" r:id="rId5"/>
    <p:sldId id="351" r:id="rId6"/>
    <p:sldId id="354" r:id="rId7"/>
    <p:sldId id="355" r:id="rId8"/>
    <p:sldId id="356" r:id="rId9"/>
    <p:sldId id="357" r:id="rId10"/>
    <p:sldId id="345" r:id="rId11"/>
    <p:sldId id="346" r:id="rId12"/>
    <p:sldId id="358" r:id="rId13"/>
    <p:sldId id="263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A11"/>
    <a:srgbClr val="F58C73"/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96" d="100"/>
          <a:sy n="96" d="100"/>
        </p:scale>
        <p:origin x="126" y="22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103A46-808A-1699-302A-1E212F1429AF}"/>
              </a:ext>
            </a:extLst>
          </p:cNvPr>
          <p:cNvSpPr txBox="1"/>
          <p:nvPr/>
        </p:nvSpPr>
        <p:spPr>
          <a:xfrm>
            <a:off x="3851290" y="1617031"/>
            <a:ext cx="14414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РГР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3E21C-201F-D2AE-55E2-1911CD6C298E}"/>
              </a:ext>
            </a:extLst>
          </p:cNvPr>
          <p:cNvSpPr txBox="1"/>
          <p:nvPr/>
        </p:nvSpPr>
        <p:spPr>
          <a:xfrm>
            <a:off x="1136418" y="2381126"/>
            <a:ext cx="6871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bg1"/>
                </a:solidFill>
              </a:rPr>
              <a:t>Проверка статистических гипотез</a:t>
            </a:r>
          </a:p>
        </p:txBody>
      </p:sp>
      <p:pic>
        <p:nvPicPr>
          <p:cNvPr id="5" name="Рисунок 4" descr="Восклицательный знак со сплошной заливкой">
            <a:extLst>
              <a:ext uri="{FF2B5EF4-FFF2-40B4-BE49-F238E27FC236}">
                <a16:creationId xmlns:a16="http://schemas.microsoft.com/office/drawing/2014/main" id="{504A4C37-E8EA-F1A6-2DC9-5A1A9632E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7361" y="4121735"/>
            <a:ext cx="826178" cy="826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DBF4BB-1936-CBF1-AEC1-3FE6D07469B3}"/>
              </a:ext>
            </a:extLst>
          </p:cNvPr>
          <p:cNvSpPr txBox="1"/>
          <p:nvPr/>
        </p:nvSpPr>
        <p:spPr>
          <a:xfrm>
            <a:off x="3404863" y="4211658"/>
            <a:ext cx="5483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За каждым выводом должна стоять гипотеза</a:t>
            </a:r>
          </a:p>
          <a:p>
            <a:r>
              <a:rPr lang="ru-RU" b="1" dirty="0">
                <a:solidFill>
                  <a:schemeClr val="bg1"/>
                </a:solidFill>
              </a:rPr>
              <a:t>Сегодня сомнение будет оформлено математически</a:t>
            </a: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67E34-EE3B-7926-92A6-393AF9FD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8704099-FBA9-4A2F-7826-5BF18C003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 Цель работы</a:t>
            </a:r>
            <a:endParaRPr lang="ru-RU" sz="3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F719D-9793-9489-C771-A3B69A46D054}"/>
              </a:ext>
            </a:extLst>
          </p:cNvPr>
          <p:cNvSpPr txBox="1"/>
          <p:nvPr/>
        </p:nvSpPr>
        <p:spPr>
          <a:xfrm>
            <a:off x="612204" y="1730915"/>
            <a:ext cx="68243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solidFill>
                  <a:srgbClr val="7030A0"/>
                </a:solidFill>
              </a:rPr>
              <a:t>Цель работы — проверить ряд статистических гипотез для выборок с использованием параметрических, непараметрических критериев и критерия согласия Пирсона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8ED09-433B-FC88-B9AB-BE7E256F65EA}"/>
              </a:ext>
            </a:extLst>
          </p:cNvPr>
          <p:cNvSpPr txBox="1"/>
          <p:nvPr/>
        </p:nvSpPr>
        <p:spPr>
          <a:xfrm>
            <a:off x="1437902" y="2953736"/>
            <a:ext cx="7034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E73A11"/>
                </a:solidFill>
              </a:rPr>
              <a:t>ЭТАПЫ РАБОТЫ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E73A11"/>
                </a:solidFill>
              </a:rPr>
              <a:t>Проверка гипотезы о равенстве математических ожиданий для двух независимых выборок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E73A11"/>
                </a:solidFill>
              </a:rPr>
              <a:t>Проверка гипотезы о параметре нормального распределения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E73A11"/>
                </a:solidFill>
              </a:rPr>
              <a:t>Непараметрический критерий для двух выборок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E73A11"/>
                </a:solidFill>
              </a:rPr>
              <a:t>Критерий согласия Пирсона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5ECA6-361F-A387-4EAE-B4C858688BFC}"/>
              </a:ext>
            </a:extLst>
          </p:cNvPr>
          <p:cNvSpPr txBox="1"/>
          <p:nvPr/>
        </p:nvSpPr>
        <p:spPr>
          <a:xfrm>
            <a:off x="3299330" y="1094516"/>
            <a:ext cx="50063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i="1" dirty="0">
                <a:solidFill>
                  <a:srgbClr val="7030A0"/>
                </a:solidFill>
              </a:rPr>
              <a:t>Прежде чем делать вывод, нужно проверить, на чём он держится</a:t>
            </a:r>
          </a:p>
        </p:txBody>
      </p:sp>
    </p:spTree>
    <p:extLst>
      <p:ext uri="{BB962C8B-B14F-4D97-AF65-F5344CB8AC3E}">
        <p14:creationId xmlns:p14="http://schemas.microsoft.com/office/powerpoint/2010/main" val="2085531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05A6-0E36-1A25-77EE-24B55C74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A74B9B7-C3BB-146B-112B-10FD70B1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2 Исходные данные и условия варианта</a:t>
            </a:r>
            <a:endParaRPr lang="ru-RU" sz="3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251D38-BD43-4C21-5A60-0A7B316D7D86}"/>
              </a:ext>
            </a:extLst>
          </p:cNvPr>
          <p:cNvSpPr txBox="1"/>
          <p:nvPr/>
        </p:nvSpPr>
        <p:spPr>
          <a:xfrm>
            <a:off x="644263" y="1748726"/>
            <a:ext cx="776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7030A0"/>
                </a:solidFill>
              </a:rPr>
              <a:t>Выборки из генеральных совокупностей 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1  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2  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3  </a:t>
            </a:r>
            <a:r>
              <a:rPr lang="en-US" dirty="0">
                <a:solidFill>
                  <a:srgbClr val="7030A0"/>
                </a:solidFill>
              </a:rPr>
              <a:t>X</a:t>
            </a:r>
            <a:r>
              <a:rPr lang="en-US" baseline="-25000" dirty="0">
                <a:solidFill>
                  <a:srgbClr val="7030A0"/>
                </a:solidFill>
              </a:rPr>
              <a:t>4 </a:t>
            </a:r>
            <a:r>
              <a:rPr lang="ru-RU" baseline="-25000" dirty="0">
                <a:solidFill>
                  <a:srgbClr val="7030A0"/>
                </a:solidFill>
              </a:rPr>
              <a:t> </a:t>
            </a:r>
            <a:r>
              <a:rPr lang="ru-RU" dirty="0">
                <a:solidFill>
                  <a:srgbClr val="7030A0"/>
                </a:solidFill>
              </a:rPr>
              <a:t>и уровень значимости </a:t>
            </a:r>
            <a:r>
              <a:rPr lang="ru-RU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722F53-343D-CB66-19F7-C95FF54DA0BD}"/>
              </a:ext>
            </a:extLst>
          </p:cNvPr>
          <p:cNvSpPr txBox="1"/>
          <p:nvPr/>
        </p:nvSpPr>
        <p:spPr>
          <a:xfrm>
            <a:off x="686828" y="2377528"/>
            <a:ext cx="768140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Для 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en-US" sz="2000" baseline="-25000" dirty="0">
                <a:solidFill>
                  <a:srgbClr val="7030A0"/>
                </a:solidFill>
              </a:rPr>
              <a:t>1 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en-US" sz="2000" baseline="-25000" dirty="0">
                <a:solidFill>
                  <a:srgbClr val="7030A0"/>
                </a:solidFill>
              </a:rPr>
              <a:t>2</a:t>
            </a:r>
            <a:r>
              <a:rPr lang="ru-RU" sz="2000" b="0" i="0" dirty="0">
                <a:solidFill>
                  <a:srgbClr val="E73A11"/>
                </a:solidFill>
                <a:effectLst/>
                <a:latin typeface="system-ui"/>
              </a:rPr>
              <a:t>  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равенстве математических ожиданий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E73A11"/>
                </a:solidFill>
                <a:latin typeface="system-ui"/>
              </a:rPr>
              <a:t>Для 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ru-RU" sz="2000" baseline="-25000" dirty="0">
                <a:solidFill>
                  <a:srgbClr val="7030A0"/>
                </a:solidFill>
              </a:rPr>
              <a:t>3</a:t>
            </a:r>
            <a:r>
              <a:rPr lang="en-US" sz="2000" baseline="-25000" dirty="0">
                <a:solidFill>
                  <a:srgbClr val="7030A0"/>
                </a:solidFill>
              </a:rPr>
              <a:t> </a:t>
            </a:r>
            <a:r>
              <a:rPr lang="ru-RU" sz="2000" baseline="-25000" dirty="0">
                <a:solidFill>
                  <a:srgbClr val="7030A0"/>
                </a:solidFill>
              </a:rPr>
              <a:t> 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проверка одной из двух гипотез (задание в карточке варианта)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ru-RU" baseline="-25000" dirty="0">
                <a:solidFill>
                  <a:srgbClr val="FF0000"/>
                </a:solidFill>
              </a:rPr>
              <a:t>0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: 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=</a:t>
            </a:r>
            <a:r>
              <a:rPr lang="ru-RU" baseline="-25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0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ru-RU" baseline="-25000" dirty="0">
                <a:solidFill>
                  <a:srgbClr val="FF0000"/>
                </a:solidFill>
              </a:rPr>
              <a:t>0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: 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</a:t>
            </a:r>
            <a:r>
              <a:rPr lang="ru-RU" baseline="30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2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=</a:t>
            </a:r>
            <a:r>
              <a:rPr lang="ru-RU" baseline="-25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0</a:t>
            </a:r>
            <a:r>
              <a:rPr lang="ru-RU" baseline="30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2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E73A11"/>
                </a:solidFill>
                <a:latin typeface="system-ui"/>
              </a:rPr>
              <a:t>Для 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en-US" sz="2000" baseline="-25000" dirty="0">
                <a:solidFill>
                  <a:srgbClr val="7030A0"/>
                </a:solidFill>
              </a:rPr>
              <a:t>1 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en-US" sz="2000" baseline="-25000" dirty="0">
                <a:solidFill>
                  <a:srgbClr val="7030A0"/>
                </a:solidFill>
              </a:rPr>
              <a:t>2</a:t>
            </a:r>
            <a:r>
              <a:rPr lang="ru-RU" sz="2000" dirty="0">
                <a:solidFill>
                  <a:srgbClr val="E73A11"/>
                </a:solidFill>
                <a:latin typeface="system-ui"/>
              </a:rPr>
              <a:t> 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применить непараметрический критерий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E73A11"/>
                </a:solidFill>
                <a:latin typeface="system-ui"/>
              </a:rPr>
              <a:t>Для  </a:t>
            </a:r>
            <a:r>
              <a:rPr lang="en-US" sz="2000" dirty="0">
                <a:solidFill>
                  <a:srgbClr val="7030A0"/>
                </a:solidFill>
              </a:rPr>
              <a:t>X</a:t>
            </a:r>
            <a:r>
              <a:rPr lang="ru-RU" sz="2000" baseline="-25000" dirty="0">
                <a:solidFill>
                  <a:srgbClr val="7030A0"/>
                </a:solidFill>
              </a:rPr>
              <a:t>4</a:t>
            </a:r>
            <a:r>
              <a:rPr lang="en-US" sz="2000" baseline="-25000" dirty="0">
                <a:solidFill>
                  <a:srgbClr val="7030A0"/>
                </a:solidFill>
              </a:rPr>
              <a:t> </a:t>
            </a:r>
            <a:r>
              <a:rPr lang="ru-RU" sz="2000" baseline="-25000" dirty="0">
                <a:solidFill>
                  <a:srgbClr val="7030A0"/>
                </a:solidFill>
              </a:rPr>
              <a:t> 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проверка гипотезы о виде закона распределения (закон и его параметры в карточке варианта), используя критерий согласия Пирсона</a:t>
            </a:r>
            <a:endParaRPr lang="ru-RU" dirty="0">
              <a:solidFill>
                <a:srgbClr val="E73A1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B79B8-6A4C-3D41-DD4D-52C287A0AD6C}"/>
              </a:ext>
            </a:extLst>
          </p:cNvPr>
          <p:cNvSpPr txBox="1"/>
          <p:nvPr/>
        </p:nvSpPr>
        <p:spPr>
          <a:xfrm>
            <a:off x="2954407" y="1030897"/>
            <a:ext cx="50025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Четыре столбца, один уровень значимости и много поводов задуматься</a:t>
            </a:r>
          </a:p>
        </p:txBody>
      </p:sp>
    </p:spTree>
    <p:extLst>
      <p:ext uri="{BB962C8B-B14F-4D97-AF65-F5344CB8AC3E}">
        <p14:creationId xmlns:p14="http://schemas.microsoft.com/office/powerpoint/2010/main" val="52517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8866-AA51-577F-401C-B62CF221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573702D-101C-0819-416C-76AD61C2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 </a:t>
            </a:r>
            <a:r>
              <a:rPr lang="ru-RU" sz="3100" dirty="0"/>
              <a:t>Общая схема проверки гипотезы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E3D2D-D634-8D73-79B5-ECBFC988B0EB}"/>
              </a:ext>
            </a:extLst>
          </p:cNvPr>
          <p:cNvSpPr txBox="1"/>
          <p:nvPr/>
        </p:nvSpPr>
        <p:spPr>
          <a:xfrm>
            <a:off x="2357337" y="1181296"/>
            <a:ext cx="56858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Вывод без процедуры — это мнение, а не результат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8B3C0-893D-AB89-1F27-77187130C1A0}"/>
              </a:ext>
            </a:extLst>
          </p:cNvPr>
          <p:cNvSpPr txBox="1"/>
          <p:nvPr/>
        </p:nvSpPr>
        <p:spPr>
          <a:xfrm>
            <a:off x="731297" y="2300896"/>
            <a:ext cx="7681405" cy="159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Формулируем </a:t>
            </a:r>
            <a:r>
              <a:rPr lang="en-US" dirty="0">
                <a:solidFill>
                  <a:srgbClr val="7030A0"/>
                </a:solidFill>
              </a:rPr>
              <a:t>H</a:t>
            </a:r>
            <a:r>
              <a:rPr lang="ru-RU" baseline="-25000" dirty="0">
                <a:solidFill>
                  <a:srgbClr val="7030A0"/>
                </a:solidFill>
              </a:rPr>
              <a:t>0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и </a:t>
            </a:r>
            <a:r>
              <a:rPr lang="en-US" dirty="0">
                <a:solidFill>
                  <a:srgbClr val="7030A0"/>
                </a:solidFill>
              </a:rPr>
              <a:t>H</a:t>
            </a:r>
            <a:r>
              <a:rPr lang="ru-RU" baseline="-25000" dirty="0">
                <a:solidFill>
                  <a:srgbClr val="7030A0"/>
                </a:solidFill>
              </a:rPr>
              <a:t>1.</a:t>
            </a:r>
            <a:r>
              <a:rPr lang="ru-RU" dirty="0">
                <a:solidFill>
                  <a:srgbClr val="7030A0"/>
                </a:solidFill>
              </a:rPr>
              <a:t> Выбираем уровень значимости </a:t>
            </a:r>
            <a:r>
              <a:rPr lang="ru-RU" dirty="0">
                <a:solidFill>
                  <a:srgbClr val="7030A0"/>
                </a:solidFill>
                <a:sym typeface="Symbol" panose="05050102010706020507" pitchFamily="18" charset="2"/>
              </a:rPr>
              <a:t></a:t>
            </a:r>
            <a:r>
              <a:rPr lang="ru-RU" dirty="0">
                <a:solidFill>
                  <a:srgbClr val="7030A0"/>
                </a:solidFill>
              </a:rPr>
              <a:t> </a:t>
            </a:r>
            <a:endParaRPr lang="ru-RU" baseline="-25000" dirty="0">
              <a:solidFill>
                <a:srgbClr val="7030A0"/>
              </a:solidFill>
              <a:latin typeface="system-ui"/>
              <a:sym typeface="Symbol" panose="05050102010706020507" pitchFamily="18" charset="2"/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Выбираем критерий, вычисляем значение статистики по выборке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h</a:t>
            </a:r>
            <a:r>
              <a:rPr lang="ru-RU" baseline="-25000" dirty="0">
                <a:solidFill>
                  <a:srgbClr val="7030A0"/>
                </a:solidFill>
                <a:latin typeface="system-ui"/>
              </a:rPr>
              <a:t>набл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Находим критическую точку и по ней задаем две области: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O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– область допустимых значений и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W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– критическую область</a:t>
            </a: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Делаем вывод в зависимости от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h</a:t>
            </a:r>
            <a:r>
              <a:rPr lang="ru-RU" baseline="-25000" dirty="0">
                <a:solidFill>
                  <a:srgbClr val="7030A0"/>
                </a:solidFill>
                <a:latin typeface="system-ui"/>
              </a:rPr>
              <a:t>набл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104CCF-F9BB-2439-A303-D89124B77746}"/>
              </a:ext>
            </a:extLst>
          </p:cNvPr>
          <p:cNvSpPr txBox="1"/>
          <p:nvPr/>
        </p:nvSpPr>
        <p:spPr>
          <a:xfrm>
            <a:off x="1695236" y="3966527"/>
            <a:ext cx="7010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Ошибка </a:t>
            </a:r>
            <a:r>
              <a:rPr lang="en-US" b="0" i="0" dirty="0">
                <a:solidFill>
                  <a:srgbClr val="E73A11"/>
                </a:solidFill>
                <a:effectLst/>
                <a:latin typeface="system-ui"/>
              </a:rPr>
              <a:t>I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 рода – гипотеза </a:t>
            </a:r>
            <a:r>
              <a:rPr lang="en-US" dirty="0">
                <a:solidFill>
                  <a:srgbClr val="E73A11"/>
                </a:solidFill>
              </a:rPr>
              <a:t>H</a:t>
            </a:r>
            <a:r>
              <a:rPr lang="ru-RU" baseline="-25000" dirty="0">
                <a:solidFill>
                  <a:srgbClr val="E73A11"/>
                </a:solidFill>
              </a:rPr>
              <a:t>0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 верна, но отвергается</a:t>
            </a:r>
          </a:p>
          <a:p>
            <a:r>
              <a:rPr lang="ru-RU" dirty="0">
                <a:solidFill>
                  <a:srgbClr val="E73A11"/>
                </a:solidFill>
                <a:latin typeface="system-ui"/>
              </a:rPr>
              <a:t>Ошибка </a:t>
            </a:r>
            <a:r>
              <a:rPr lang="en-US" dirty="0">
                <a:solidFill>
                  <a:srgbClr val="E73A11"/>
                </a:solidFill>
                <a:latin typeface="system-ui"/>
              </a:rPr>
              <a:t>II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рода – гипотеза </a:t>
            </a:r>
            <a:r>
              <a:rPr lang="en-US" dirty="0">
                <a:solidFill>
                  <a:srgbClr val="E73A11"/>
                </a:solidFill>
              </a:rPr>
              <a:t>H</a:t>
            </a:r>
            <a:r>
              <a:rPr lang="ru-RU" baseline="-25000" dirty="0">
                <a:solidFill>
                  <a:srgbClr val="E73A11"/>
                </a:solidFill>
              </a:rPr>
              <a:t>0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не верна, но принимается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1D43CC-8C7B-300D-EE58-758FDF758382}"/>
              </a:ext>
            </a:extLst>
          </p:cNvPr>
          <p:cNvSpPr txBox="1"/>
          <p:nvPr/>
        </p:nvSpPr>
        <p:spPr>
          <a:xfrm>
            <a:off x="1211330" y="1735354"/>
            <a:ext cx="6721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E73A11"/>
                </a:solidFill>
              </a:rPr>
              <a:t>данные → гипотезы → критерии → решение → выводы</a:t>
            </a:r>
          </a:p>
        </p:txBody>
      </p:sp>
    </p:spTree>
    <p:extLst>
      <p:ext uri="{BB962C8B-B14F-4D97-AF65-F5344CB8AC3E}">
        <p14:creationId xmlns:p14="http://schemas.microsoft.com/office/powerpoint/2010/main" val="395113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AE572-8A54-2E3F-5CE3-4E61E908B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C704A9C-75BC-12E9-1C12-BDA53566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 Гипотеза о равенстве средних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64BE3-769B-359B-EC7A-A0813C3DBEB8}"/>
              </a:ext>
            </a:extLst>
          </p:cNvPr>
          <p:cNvSpPr txBox="1"/>
          <p:nvPr/>
        </p:nvSpPr>
        <p:spPr>
          <a:xfrm>
            <a:off x="457200" y="1698592"/>
            <a:ext cx="7681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равенстве математических ожиданий </a:t>
            </a:r>
            <a:r>
              <a:rPr lang="ru-RU" b="0" i="0" u="sng" dirty="0">
                <a:solidFill>
                  <a:srgbClr val="E73A11"/>
                </a:solidFill>
                <a:effectLst/>
                <a:latin typeface="system-ui"/>
              </a:rPr>
              <a:t>нормальных генеральных совокупностей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 при неизвестной дисперсии </a:t>
            </a:r>
            <a:r>
              <a:rPr lang="en-US" b="0" i="0" dirty="0">
                <a:solidFill>
                  <a:srgbClr val="E73A11"/>
                </a:solidFill>
                <a:effectLst/>
                <a:latin typeface="system-ui"/>
              </a:rPr>
              <a:t>H</a:t>
            </a:r>
            <a:r>
              <a:rPr lang="ru-RU" b="0" i="0" baseline="-25000" dirty="0">
                <a:solidFill>
                  <a:srgbClr val="E73A11"/>
                </a:solidFill>
                <a:effectLst/>
                <a:latin typeface="system-ui"/>
              </a:rPr>
              <a:t>0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: 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  <a:sym typeface="Symbol" panose="05050102010706020507" pitchFamily="18" charset="2"/>
              </a:rPr>
              <a:t></a:t>
            </a:r>
            <a:r>
              <a:rPr lang="ru-RU" b="0" i="0" baseline="-25000" dirty="0">
                <a:solidFill>
                  <a:srgbClr val="E73A11"/>
                </a:solidFill>
                <a:effectLst/>
                <a:latin typeface="system-ui"/>
                <a:sym typeface="Symbol" panose="05050102010706020507" pitchFamily="18" charset="2"/>
              </a:rPr>
              <a:t>1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  <a:sym typeface="Symbol" panose="05050102010706020507" pitchFamily="18" charset="2"/>
              </a:rPr>
              <a:t>=</a:t>
            </a:r>
            <a:r>
              <a:rPr lang="ru-RU" b="0" i="0" baseline="-25000" dirty="0">
                <a:solidFill>
                  <a:srgbClr val="E73A11"/>
                </a:solidFill>
                <a:effectLst/>
                <a:latin typeface="system-ui"/>
                <a:sym typeface="Symbol" panose="05050102010706020507" pitchFamily="18" charset="2"/>
              </a:rPr>
              <a:t>2</a:t>
            </a:r>
            <a:endParaRPr lang="ru-RU" b="0" i="0" baseline="-25000" dirty="0">
              <a:solidFill>
                <a:srgbClr val="E73A11"/>
              </a:solidFill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0DA21-DA9A-C74E-BF25-2E2D21D1EB00}"/>
              </a:ext>
            </a:extLst>
          </p:cNvPr>
          <p:cNvSpPr txBox="1"/>
          <p:nvPr/>
        </p:nvSpPr>
        <p:spPr>
          <a:xfrm>
            <a:off x="3021495" y="1030897"/>
            <a:ext cx="4935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Иногда две выборки кажутся близкими — пока не начнёшь считать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2FA44C-3EAD-F8D7-6B34-8A5A556A0282}"/>
              </a:ext>
            </a:extLst>
          </p:cNvPr>
          <p:cNvSpPr txBox="1"/>
          <p:nvPr/>
        </p:nvSpPr>
        <p:spPr>
          <a:xfrm>
            <a:off x="624684" y="2661485"/>
            <a:ext cx="7681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Двухсторонняя альтернатива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Параметрический критерий имеет распределение Стьюдента с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k=m+n-2 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степенями свободы</a:t>
            </a:r>
            <a:endParaRPr lang="ru-RU" b="0" i="0" dirty="0">
              <a:solidFill>
                <a:srgbClr val="7030A0"/>
              </a:solidFill>
              <a:effectLst/>
              <a:latin typeface="system-ui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E8D4ADB-2626-EEB9-DD71-BBE93E585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661" y="2614889"/>
            <a:ext cx="3656746" cy="46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6DED84F-7360-9E0D-CB3C-6C2E49C0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916" y="3554603"/>
            <a:ext cx="4681206" cy="11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38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D37FA-489E-D51A-E02C-A60D1150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6FBD682-7D91-1727-E895-EBB36D88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5 Гипотеза о равенстве матожидания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C61518-B8CE-9E3B-4985-C231C6856C5B}"/>
              </a:ext>
            </a:extLst>
          </p:cNvPr>
          <p:cNvSpPr txBox="1"/>
          <p:nvPr/>
        </p:nvSpPr>
        <p:spPr>
          <a:xfrm>
            <a:off x="624684" y="1862754"/>
            <a:ext cx="7332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математическом ожиданий </a:t>
            </a:r>
            <a:r>
              <a:rPr lang="ru-RU" b="0" i="0" u="sng" dirty="0">
                <a:solidFill>
                  <a:srgbClr val="E73A11"/>
                </a:solidFill>
                <a:effectLst/>
                <a:latin typeface="system-ui"/>
              </a:rPr>
              <a:t>нормального  распределения </a:t>
            </a:r>
            <a:r>
              <a:rPr lang="en-US" dirty="0">
                <a:solidFill>
                  <a:srgbClr val="E73A11"/>
                </a:solidFill>
                <a:latin typeface="system-ui"/>
              </a:rPr>
              <a:t>H</a:t>
            </a:r>
            <a:r>
              <a:rPr lang="ru-RU" baseline="-25000" dirty="0">
                <a:solidFill>
                  <a:srgbClr val="E73A11"/>
                </a:solidFill>
                <a:latin typeface="system-ui"/>
              </a:rPr>
              <a:t>0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: 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=</a:t>
            </a:r>
            <a:r>
              <a:rPr lang="ru-RU" baseline="-25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0</a:t>
            </a:r>
            <a:endParaRPr lang="ru-RU" b="0" i="0" dirty="0">
              <a:solidFill>
                <a:srgbClr val="E73A11"/>
              </a:solidFill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55473-CB93-E73E-98E4-CBCCDB7D1E4A}"/>
              </a:ext>
            </a:extLst>
          </p:cNvPr>
          <p:cNvSpPr txBox="1"/>
          <p:nvPr/>
        </p:nvSpPr>
        <p:spPr>
          <a:xfrm>
            <a:off x="2358771" y="1030897"/>
            <a:ext cx="559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Параметры распределения любят точность и не прощают догадок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04957-5BA6-62AB-99E3-0E4110A11791}"/>
              </a:ext>
            </a:extLst>
          </p:cNvPr>
          <p:cNvSpPr txBox="1"/>
          <p:nvPr/>
        </p:nvSpPr>
        <p:spPr>
          <a:xfrm>
            <a:off x="624684" y="2661485"/>
            <a:ext cx="7681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Двухсторонняя альтернатива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Параметрический критерий имеет распределение Стьюдента с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k=n-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1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степенями свободы</a:t>
            </a:r>
            <a:endParaRPr lang="ru-RU" b="0" i="0" dirty="0">
              <a:solidFill>
                <a:srgbClr val="7030A0"/>
              </a:solidFill>
              <a:effectLst/>
              <a:latin typeface="system-u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A39BCB-8C60-C429-7EF4-B1DAD5A87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91" y="2627244"/>
            <a:ext cx="1935360" cy="432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CD872EB-CA85-2B65-CB9D-2FE5B8D86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341" y="3662501"/>
            <a:ext cx="458152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65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655A-896D-CCB5-EB75-1901EE92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76A90CF-A6DB-B37D-C683-9BAD2406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6 Гипотеза о равенстве дисперсии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FA6C51-A434-1B5A-91F6-077AA8EC2D84}"/>
              </a:ext>
            </a:extLst>
          </p:cNvPr>
          <p:cNvSpPr txBox="1"/>
          <p:nvPr/>
        </p:nvSpPr>
        <p:spPr>
          <a:xfrm>
            <a:off x="624684" y="1862754"/>
            <a:ext cx="7535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дисперсии </a:t>
            </a:r>
            <a:r>
              <a:rPr lang="ru-RU" b="0" i="0" u="sng" dirty="0">
                <a:solidFill>
                  <a:srgbClr val="E73A11"/>
                </a:solidFill>
                <a:effectLst/>
                <a:latin typeface="system-ui"/>
              </a:rPr>
              <a:t>нормального  распределения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ru-RU" baseline="-25000" dirty="0">
                <a:solidFill>
                  <a:srgbClr val="FF0000"/>
                </a:solidFill>
              </a:rPr>
              <a:t>0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 : 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</a:t>
            </a:r>
            <a:r>
              <a:rPr lang="ru-RU" baseline="30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2</a:t>
            </a:r>
            <a:r>
              <a:rPr lang="ru-RU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=</a:t>
            </a:r>
            <a:r>
              <a:rPr lang="ru-RU" baseline="-25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0</a:t>
            </a:r>
            <a:r>
              <a:rPr lang="ru-RU" baseline="30000" dirty="0">
                <a:solidFill>
                  <a:srgbClr val="E73A11"/>
                </a:solidFill>
                <a:latin typeface="system-ui"/>
                <a:sym typeface="Symbol" panose="05050102010706020507" pitchFamily="18" charset="2"/>
              </a:rPr>
              <a:t>2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676381-E854-809B-7537-0630263946FB}"/>
              </a:ext>
            </a:extLst>
          </p:cNvPr>
          <p:cNvSpPr txBox="1"/>
          <p:nvPr/>
        </p:nvSpPr>
        <p:spPr>
          <a:xfrm>
            <a:off x="2358771" y="1030897"/>
            <a:ext cx="559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Когда неизвестен параметр, начинается самое интересное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F058F1-4EEB-78BC-1971-7D1A4218A858}"/>
              </a:ext>
            </a:extLst>
          </p:cNvPr>
          <p:cNvSpPr txBox="1"/>
          <p:nvPr/>
        </p:nvSpPr>
        <p:spPr>
          <a:xfrm>
            <a:off x="624684" y="2661485"/>
            <a:ext cx="7681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Двухсторонняя альтернатива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Параметрический критерий имеет распределение </a:t>
            </a:r>
            <a:r>
              <a:rPr lang="ru-RU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</a:t>
            </a:r>
            <a:r>
              <a:rPr lang="ru-RU" baseline="30000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2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с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k=n-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1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степенями свободы</a:t>
            </a:r>
            <a:endParaRPr lang="ru-RU" b="0" i="0" dirty="0">
              <a:solidFill>
                <a:srgbClr val="7030A0"/>
              </a:solidFill>
              <a:effectLst/>
              <a:latin typeface="system-ui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05BF3F-6671-1C73-9C4C-03824D3EB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391" y="2627244"/>
            <a:ext cx="1935360" cy="432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C9D5AB-7F62-47B9-17D1-4DEA8E3F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420" y="3653092"/>
            <a:ext cx="42767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81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755EC-C6B4-D13F-4883-57FD9AB9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4BE1B02-95FC-EA9C-C9A3-69F8FAD2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7 Критерий Манна-Уитни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2E7D1-F671-28A3-746F-C0547920B2E9}"/>
              </a:ext>
            </a:extLst>
          </p:cNvPr>
          <p:cNvSpPr txBox="1"/>
          <p:nvPr/>
        </p:nvSpPr>
        <p:spPr>
          <a:xfrm>
            <a:off x="624684" y="1862754"/>
            <a:ext cx="7535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совпадении </a:t>
            </a:r>
            <a:r>
              <a:rPr lang="ru-RU" dirty="0">
                <a:solidFill>
                  <a:srgbClr val="FF0000"/>
                </a:solidFill>
              </a:rPr>
              <a:t>распределений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580BA-9944-F29A-44BB-5757ED5FD196}"/>
              </a:ext>
            </a:extLst>
          </p:cNvPr>
          <p:cNvSpPr txBox="1"/>
          <p:nvPr/>
        </p:nvSpPr>
        <p:spPr>
          <a:xfrm>
            <a:off x="2358771" y="1030897"/>
            <a:ext cx="559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Если данным нельзя полностью доверять форму, можно доверять порядку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135CF-2918-F630-D350-75CFA7A5F964}"/>
              </a:ext>
            </a:extLst>
          </p:cNvPr>
          <p:cNvSpPr txBox="1"/>
          <p:nvPr/>
        </p:nvSpPr>
        <p:spPr>
          <a:xfrm>
            <a:off x="551652" y="2423043"/>
            <a:ext cx="7681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Выборки объединяют и ранжируют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Непараметрический критерий позволяет сравнить выборки без предположении о нормальности</a:t>
            </a:r>
            <a:endParaRPr lang="ru-RU" b="0" i="0" dirty="0">
              <a:solidFill>
                <a:srgbClr val="7030A0"/>
              </a:solidFill>
              <a:effectLst/>
              <a:latin typeface="system-ui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D33A2B6-027C-0020-8BBF-9B8B3062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711" y="2337750"/>
            <a:ext cx="3656746" cy="46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35E702-A083-09F9-4F8D-1A91195AA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709" y="3665526"/>
            <a:ext cx="4395791" cy="10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9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996EA-9291-24A1-DFD1-CF50533C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6A3F19B-8BAB-7087-E2EB-B2E293F6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8 Критерий согласия Пирсона</a:t>
            </a:r>
            <a:endParaRPr lang="ru-RU" sz="3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DE2DB-D188-9608-ACAA-F72C1FC43349}"/>
              </a:ext>
            </a:extLst>
          </p:cNvPr>
          <p:cNvSpPr txBox="1"/>
          <p:nvPr/>
        </p:nvSpPr>
        <p:spPr>
          <a:xfrm>
            <a:off x="624684" y="1770558"/>
            <a:ext cx="7535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Проверка гипотезы о </a:t>
            </a:r>
            <a:r>
              <a:rPr lang="ru-RU" dirty="0">
                <a:solidFill>
                  <a:srgbClr val="E73A11"/>
                </a:solidFill>
                <a:latin typeface="system-ui"/>
              </a:rPr>
              <a:t>виде закона</a:t>
            </a:r>
            <a:r>
              <a:rPr lang="ru-RU" b="0" i="0" dirty="0">
                <a:solidFill>
                  <a:srgbClr val="E73A11"/>
                </a:solidFill>
                <a:effectLst/>
                <a:latin typeface="system-ui"/>
              </a:rPr>
              <a:t> </a:t>
            </a:r>
            <a:r>
              <a:rPr lang="ru-RU" dirty="0">
                <a:solidFill>
                  <a:srgbClr val="FF0000"/>
                </a:solidFill>
              </a:rPr>
              <a:t>распределений (закон и параметр заданы)</a:t>
            </a:r>
            <a:endParaRPr lang="ru-RU" baseline="-25000" dirty="0">
              <a:solidFill>
                <a:srgbClr val="E73A11"/>
              </a:solidFill>
              <a:latin typeface="system-ui"/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4849B-E4E3-FCC8-8E1D-AB71FB836548}"/>
              </a:ext>
            </a:extLst>
          </p:cNvPr>
          <p:cNvSpPr txBox="1"/>
          <p:nvPr/>
        </p:nvSpPr>
        <p:spPr>
          <a:xfrm>
            <a:off x="2358771" y="1030897"/>
            <a:ext cx="55982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Иногда распределение “похоже”, но </a:t>
            </a:r>
            <a:r>
              <a:rPr lang="ru-RU" sz="1600" b="1" i="1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</a:t>
            </a:r>
            <a:r>
              <a:rPr lang="ru-RU" sz="1600" b="1" i="1" baseline="30000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2</a:t>
            </a:r>
            <a:r>
              <a:rPr lang="ru-RU" sz="1600" b="1" i="1" dirty="0">
                <a:solidFill>
                  <a:srgbClr val="7030A0"/>
                </a:solidFill>
              </a:rPr>
              <a:t> настроен скептически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8125AD-257E-557C-01D6-D3ED67B03EC5}"/>
              </a:ext>
            </a:extLst>
          </p:cNvPr>
          <p:cNvSpPr txBox="1"/>
          <p:nvPr/>
        </p:nvSpPr>
        <p:spPr>
          <a:xfrm>
            <a:off x="551652" y="2423043"/>
            <a:ext cx="7681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Выборка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7030A0"/>
                </a:solidFill>
                <a:effectLst/>
                <a:latin typeface="system-ui"/>
              </a:rPr>
              <a:t>Работаем с группированной выборкой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7030A0"/>
                </a:solidFill>
                <a:latin typeface="system-ui"/>
              </a:rPr>
              <a:t>Критерий согласия Пирсона имеет распределение </a:t>
            </a:r>
            <a:r>
              <a:rPr lang="ru-RU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</a:t>
            </a:r>
            <a:r>
              <a:rPr lang="ru-RU" baseline="30000" dirty="0">
                <a:solidFill>
                  <a:srgbClr val="7030A0"/>
                </a:solidFill>
                <a:latin typeface="system-ui"/>
                <a:sym typeface="Symbol" panose="05050102010706020507" pitchFamily="18" charset="2"/>
              </a:rPr>
              <a:t>2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с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k-s-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1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 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степенями свободы.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k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– число интервалов, </a:t>
            </a:r>
            <a:r>
              <a:rPr lang="en-US" dirty="0">
                <a:solidFill>
                  <a:srgbClr val="7030A0"/>
                </a:solidFill>
                <a:latin typeface="system-ui"/>
              </a:rPr>
              <a:t>s</a:t>
            </a:r>
            <a:r>
              <a:rPr lang="ru-RU" dirty="0">
                <a:solidFill>
                  <a:srgbClr val="7030A0"/>
                </a:solidFill>
                <a:latin typeface="system-ui"/>
              </a:rPr>
              <a:t> – число оцениваемых параметров</a:t>
            </a:r>
            <a:endParaRPr lang="ru-RU" b="0" i="0" dirty="0">
              <a:solidFill>
                <a:srgbClr val="7030A0"/>
              </a:solidFill>
              <a:effectLst/>
              <a:latin typeface="system-ui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1C0580-8675-E1CD-48CC-A3762598C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52" y="2416889"/>
            <a:ext cx="1078468" cy="396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AC77306-949E-E0B0-A503-F317C387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525" y="3631590"/>
            <a:ext cx="2174257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743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720EE-7318-CBC1-2340-3D584C06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36E6A95-8CAD-D2BD-1EC8-7AEF9806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9 </a:t>
            </a:r>
            <a:r>
              <a:rPr lang="ru-RU" sz="3100" dirty="0"/>
              <a:t>Шкала оценивания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24D27-1441-7223-E614-5DD7158CC4B5}"/>
              </a:ext>
            </a:extLst>
          </p:cNvPr>
          <p:cNvSpPr txBox="1"/>
          <p:nvPr/>
        </p:nvSpPr>
        <p:spPr>
          <a:xfrm>
            <a:off x="2837478" y="1069558"/>
            <a:ext cx="5002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Здесь даже баллы распределяются не случайно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479D50-AF9C-0A13-650B-EA40CA2B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52" y="1525107"/>
            <a:ext cx="5399478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10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F5AE-2BC4-94D3-F951-7EB81DFB4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4BB7ECB-B892-23BA-1421-FF3077D6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10 </a:t>
            </a:r>
            <a:r>
              <a:rPr lang="ru-RU" sz="3100" dirty="0"/>
              <a:t>Ожидаемые результаты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51940-0D05-ABF3-4811-6AC771A82B38}"/>
              </a:ext>
            </a:extLst>
          </p:cNvPr>
          <p:cNvSpPr txBox="1"/>
          <p:nvPr/>
        </p:nvSpPr>
        <p:spPr>
          <a:xfrm>
            <a:off x="2333074" y="1082315"/>
            <a:ext cx="56534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Результат в статистике — это не просто число, а обоснованный вывод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DE18A0-1C9C-510B-E401-A376AB6FA511}"/>
              </a:ext>
            </a:extLst>
          </p:cNvPr>
          <p:cNvSpPr txBox="1"/>
          <p:nvPr/>
        </p:nvSpPr>
        <p:spPr>
          <a:xfrm>
            <a:off x="616227" y="2018550"/>
            <a:ext cx="79214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для каждого пункта работы указаны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нулевая и альтернативная гипотезы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altLang="ru-RU" dirty="0">
                <a:solidFill>
                  <a:srgbClr val="7030A0"/>
                </a:solidFill>
                <a:latin typeface="Arial" panose="020B0604020202020204" pitchFamily="34" charset="0"/>
              </a:rPr>
              <a:t>выбран и кратко обоснован </a:t>
            </a:r>
            <a:r>
              <a:rPr lang="ru-RU" altLang="ru-RU" b="1" dirty="0">
                <a:solidFill>
                  <a:srgbClr val="7030A0"/>
                </a:solidFill>
                <a:latin typeface="Arial" panose="020B0604020202020204" pitchFamily="34" charset="0"/>
              </a:rPr>
              <a:t>статистический критерий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altLang="ru-RU" dirty="0">
                <a:solidFill>
                  <a:srgbClr val="7030A0"/>
                </a:solidFill>
                <a:latin typeface="Arial" panose="020B0604020202020204" pitchFamily="34" charset="0"/>
              </a:rPr>
              <a:t>приведена </a:t>
            </a:r>
            <a:r>
              <a:rPr lang="ru-RU" altLang="ru-RU" b="1" dirty="0">
                <a:solidFill>
                  <a:srgbClr val="7030A0"/>
                </a:solidFill>
                <a:latin typeface="Arial" panose="020B0604020202020204" pitchFamily="34" charset="0"/>
              </a:rPr>
              <a:t>наблюдаемая статистика</a:t>
            </a:r>
            <a:endParaRPr lang="ru-RU" altLang="ru-RU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altLang="ru-RU" dirty="0">
                <a:solidFill>
                  <a:srgbClr val="7030A0"/>
                </a:solidFill>
                <a:latin typeface="Arial" panose="020B0604020202020204" pitchFamily="34" charset="0"/>
              </a:rPr>
              <a:t>по каждой задаче сформулирован вывод: </a:t>
            </a:r>
            <a:r>
              <a:rPr lang="ru-RU" altLang="ru-RU" b="1" dirty="0">
                <a:solidFill>
                  <a:srgbClr val="7030A0"/>
                </a:solidFill>
                <a:latin typeface="Arial" panose="020B0604020202020204" pitchFamily="34" charset="0"/>
              </a:rPr>
              <a:t>отвергается гипотеза или нет</a:t>
            </a:r>
            <a:endParaRPr lang="ru-RU" altLang="ru-RU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altLang="ru-RU" dirty="0">
                <a:solidFill>
                  <a:srgbClr val="7030A0"/>
                </a:solidFill>
                <a:latin typeface="Arial" panose="020B0604020202020204" pitchFamily="34" charset="0"/>
              </a:rPr>
              <a:t>результаты интерпретированы </a:t>
            </a:r>
            <a:r>
              <a:rPr lang="ru-RU" altLang="ru-RU" b="1" dirty="0">
                <a:solidFill>
                  <a:srgbClr val="7030A0"/>
                </a:solidFill>
                <a:latin typeface="Arial" panose="020B0604020202020204" pitchFamily="34" charset="0"/>
              </a:rPr>
              <a:t>на языке исходной задачи</a:t>
            </a:r>
            <a:endParaRPr lang="ru-RU" altLang="ru-RU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495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B2B2E-B6AC-9DEE-238B-2DE78516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F24FA7A-EC65-135F-F727-DECC0314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11 </a:t>
            </a:r>
            <a:r>
              <a:rPr lang="ru-RU" sz="3100" dirty="0"/>
              <a:t>Ожидаемые результаты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CEFFA-3E34-D478-8C34-9934DF24CF1A}"/>
              </a:ext>
            </a:extLst>
          </p:cNvPr>
          <p:cNvSpPr txBox="1"/>
          <p:nvPr/>
        </p:nvSpPr>
        <p:spPr>
          <a:xfrm>
            <a:off x="2333074" y="1082315"/>
            <a:ext cx="56534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b="1" i="1" dirty="0">
                <a:solidFill>
                  <a:srgbClr val="7030A0"/>
                </a:solidFill>
              </a:rPr>
              <a:t>Статистика не устраняет неопределённость, но помогает говорить о ней честно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28B3DA-C61A-8528-AA36-15B895CF20CF}"/>
              </a:ext>
            </a:extLst>
          </p:cNvPr>
          <p:cNvSpPr txBox="1"/>
          <p:nvPr/>
        </p:nvSpPr>
        <p:spPr>
          <a:xfrm>
            <a:off x="616227" y="2018550"/>
            <a:ext cx="79214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7030A0"/>
                </a:solidFill>
              </a:rPr>
              <a:t>В ходе работы ставятся и проверяются несколько статистических гипотез для выборок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7030A0"/>
                </a:solidFill>
              </a:rPr>
              <a:t>Критерии позволяют сравнить выборки, оценить параметры распределения и проверить согласие данных с моделью</a:t>
            </a:r>
            <a:endParaRPr lang="ru-RU" altLang="ru-RU" sz="2000" dirty="0">
              <a:solidFill>
                <a:srgbClr val="7030A0"/>
              </a:solidFill>
              <a:latin typeface="Arial" panose="020B0604020202020204" pitchFamily="34" charset="0"/>
            </a:endParaRP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ru-RU" sz="2000" dirty="0">
                <a:solidFill>
                  <a:srgbClr val="7030A0"/>
                </a:solidFill>
              </a:rPr>
              <a:t>Полученные результаты дадут возможность сделать обоснованные выводы на основе выборочных данных</a:t>
            </a:r>
            <a:endParaRPr lang="ru-RU" altLang="ru-RU" sz="2000" dirty="0">
              <a:solidFill>
                <a:srgbClr val="7030A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482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5972</TotalTime>
  <Words>599</Words>
  <Application>Microsoft Office PowerPoint</Application>
  <PresentationFormat>Экран (16:9)</PresentationFormat>
  <Paragraphs>75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ALS Gorizont Bold Expanded</vt:lpstr>
      <vt:lpstr>Arial</vt:lpstr>
      <vt:lpstr>Calibri</vt:lpstr>
      <vt:lpstr>Golos Text</vt:lpstr>
      <vt:lpstr>Golos Text DemiBold</vt:lpstr>
      <vt:lpstr>Symbol</vt:lpstr>
      <vt:lpstr>system-ui</vt:lpstr>
      <vt:lpstr>Wingdings</vt:lpstr>
      <vt:lpstr>Тема1</vt:lpstr>
      <vt:lpstr>Презентация PowerPoint</vt:lpstr>
      <vt:lpstr>1 Цель работы</vt:lpstr>
      <vt:lpstr>2 Исходные данные и условия варианта</vt:lpstr>
      <vt:lpstr>3 Общая схема проверки гипотезы</vt:lpstr>
      <vt:lpstr>4 Гипотеза о равенстве средних</vt:lpstr>
      <vt:lpstr>5 Гипотеза о равенстве матожидания</vt:lpstr>
      <vt:lpstr>6 Гипотеза о равенстве дисперсии</vt:lpstr>
      <vt:lpstr>7 Критерий Манна-Уитни</vt:lpstr>
      <vt:lpstr>8 Критерий согласия Пирсона</vt:lpstr>
      <vt:lpstr>9 Шкала оценивания</vt:lpstr>
      <vt:lpstr>10 Ожидаемые результаты</vt:lpstr>
      <vt:lpstr>11 Ожидаемые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Лукина Марина</cp:lastModifiedBy>
  <cp:revision>118</cp:revision>
  <dcterms:created xsi:type="dcterms:W3CDTF">2014-06-27T12:30:22Z</dcterms:created>
  <dcterms:modified xsi:type="dcterms:W3CDTF">2026-04-11T14:11:57Z</dcterms:modified>
</cp:coreProperties>
</file>