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0" r:id="rId1"/>
  </p:sldMasterIdLst>
  <p:notesMasterIdLst>
    <p:notesMasterId r:id="rId15"/>
  </p:notesMasterIdLst>
  <p:handoutMasterIdLst>
    <p:handoutMasterId r:id="rId16"/>
  </p:handoutMasterIdLst>
  <p:sldIdLst>
    <p:sldId id="265" r:id="rId2"/>
    <p:sldId id="338" r:id="rId3"/>
    <p:sldId id="343" r:id="rId4"/>
    <p:sldId id="344" r:id="rId5"/>
    <p:sldId id="351" r:id="rId6"/>
    <p:sldId id="354" r:id="rId7"/>
    <p:sldId id="355" r:id="rId8"/>
    <p:sldId id="356" r:id="rId9"/>
    <p:sldId id="357" r:id="rId10"/>
    <p:sldId id="345" r:id="rId11"/>
    <p:sldId id="346" r:id="rId12"/>
    <p:sldId id="358" r:id="rId13"/>
    <p:sldId id="263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595315-6059-63B0-9BE8-AAFD11894995}" name="Елена Иванченко" initials="ЕИ" userId="7f7d7db965285a96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Самолетов" initials="С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3A11"/>
    <a:srgbClr val="F58C73"/>
    <a:srgbClr val="B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3" autoAdjust="0"/>
    <p:restoredTop sz="94672" autoAdjust="0"/>
  </p:normalViewPr>
  <p:slideViewPr>
    <p:cSldViewPr snapToGrid="0" snapToObjects="1" showGuides="1">
      <p:cViewPr varScale="1">
        <p:scale>
          <a:sx n="108" d="100"/>
          <a:sy n="108" d="100"/>
        </p:scale>
        <p:origin x="654" y="96"/>
      </p:cViewPr>
      <p:guideLst>
        <p:guide orient="horz" pos="1611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2975-4CFD-C441-A244-B7FD9A9579C2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60DC-725D-2A44-9F89-74FE668A9C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254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1C8-470D-774F-8B40-381C3059BD4A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711C-DB87-6342-8123-FE7E39EB00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73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83B35-4D64-24CD-46E0-32E9FC276C40}"/>
              </a:ext>
            </a:extLst>
          </p:cNvPr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EFD47-67FA-CC9C-A247-DDA306E69DC7}"/>
              </a:ext>
            </a:extLst>
          </p:cNvPr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74B261-5474-8217-1C1F-DF8DF956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A92729-C745-7CCF-6847-2DF14BA713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aseline="0"/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0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0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9977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4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20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09715879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DC7664A4-1431-5B79-D831-F6220EA436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9A5E5274-1C05-A7BB-B9D5-BE8CD4A5E9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5FC28AB9-3129-9DBE-782C-D2B113A5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12C4E9B1-800A-20F6-E4F7-84C6B3BE94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C1609-7E48-B73D-CDA4-19FD56B5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32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6F42A0-92A9-ED41-A4B6-1B839857D4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</p:spTree>
    <p:extLst>
      <p:ext uri="{BB962C8B-B14F-4D97-AF65-F5344CB8AC3E}">
        <p14:creationId xmlns:p14="http://schemas.microsoft.com/office/powerpoint/2010/main" val="439475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0393FA-3ECC-3158-E15E-58890F60B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3DB0C6-E4DE-9A4B-998D-34852F1B3E9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403455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41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36D9692A-5DC0-3DF1-F516-70164F11C5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C2C41F40-A63A-48C4-01DC-A4A13BB7B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5B27C-CA4C-7381-3F84-F0595A76C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2AA24315-FE73-04A8-D530-E746EC0C20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69578C56-72EB-AE17-C6D4-CE1E8FBA30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01893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AE2ED3E-3221-72A5-8340-4E08819C8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19B43694-08A8-116E-FA12-468591D136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E75CB8B0-7394-87DF-B065-6F242AB2D0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99336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98E654-ABDC-7E78-775E-43A2D6214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D71CC7-EEA6-E9D0-68AD-36562CCF607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254081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360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3706F3BB-2486-D68F-6966-44BBD62CEC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49722966-1EC6-6348-3A3A-25A27C8E50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D2BFFE86-F97D-E925-927B-0F6BBD2D6E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ADAF316B-52C6-704E-CB38-0E76498CD5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88714-60F8-FF59-CB87-38F52214F9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260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8C44632-7642-B672-30DB-BEE8EBC23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AF7BB137-1C7F-56D5-5D41-70ED6DEA4C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9C7E817-A2F7-D228-2EB2-8CC2710635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2927035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1F5CFB9-FFF2-E218-2283-FA3AC247B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CCADC5-135D-DC69-A40F-E7939EE42C8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3110273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Финал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4">
            <a:extLst>
              <a:ext uri="{FF2B5EF4-FFF2-40B4-BE49-F238E27FC236}">
                <a16:creationId xmlns:a16="http://schemas.microsoft.com/office/drawing/2014/main" id="{164235EB-093A-2BDE-8127-460B61C5B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конец списка.</a:t>
            </a:r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D6E8F6-2854-A3A1-FCCA-4BC7B8C56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440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5FAEC5-3811-8889-0016-6EA3B2AC41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CAC739FE-CC7A-A005-60BE-713B90BFE7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5" name="Текст 13">
            <a:extLst>
              <a:ext uri="{FF2B5EF4-FFF2-40B4-BE49-F238E27FC236}">
                <a16:creationId xmlns:a16="http://schemas.microsoft.com/office/drawing/2014/main" id="{0280BF47-780B-2175-23F6-FDC24D601F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id="{E58E80D7-3F9A-CA73-1A7E-C864B8F1B1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BF0BE89B-425E-821E-10AB-56C164DAED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206293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82CACE-D64E-E390-8227-23E049D60A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D893D5-8CB5-3E29-008C-CC0E0591AE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6E126262-C015-9DD6-F87F-1B632AE744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736321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id="{E0DDF7E5-74E5-85B7-0EAB-6118F548A9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7936B987-FE27-33B7-4612-FDB9F2B35C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55286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6">
            <a:extLst>
              <a:ext uri="{FF2B5EF4-FFF2-40B4-BE49-F238E27FC236}">
                <a16:creationId xmlns:a16="http://schemas.microsoft.com/office/drawing/2014/main" id="{604BBFFB-7572-35FA-4787-0F445C5632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BFD2DD0-1A50-CC19-1239-4EE4F12EA9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73A9D63A-5180-ED0A-F619-007A1570C1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75CB2-AC7B-1521-E0C8-0618DBE0F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59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4827D-CE53-9591-037D-C963F1C74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AE50A46-F4A6-68CE-7C12-AA2301388718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2AB405F-D2C7-9CD0-F8A2-C5B08DACE9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20D20C24-934F-4A5C-CF04-B479AF2D0D5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2D750E3A-97C5-5CBE-A3C9-0F2565E569E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3842539"/>
      </p:ext>
    </p:extLst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33143" y="949330"/>
            <a:ext cx="2895600" cy="3895724"/>
          </a:xfrm>
        </p:spPr>
        <p:txBody>
          <a:bodyPr>
            <a:normAutofit/>
          </a:bodyPr>
          <a:lstStyle>
            <a:lvl1pPr marL="0" indent="0">
              <a:buNone/>
              <a:defRPr sz="1400" b="0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F1233E17-1183-B76E-8FDC-B4E51177D9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D225B0AE-7C4E-EA08-3FB1-DC344CD724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8F0CB042-A157-2892-A9F3-8F41034FBC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B7890194-FBA6-DE42-AD42-307D6F999BE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27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6AE54EB-260E-9A56-307F-307DC6AE32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Ключевая фраза слайда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20DDEE97-30A5-E948-6E23-28FB2BCF96F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AAC08422-7D47-2B7E-7D28-680BC07B364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D0F3CB7-1C07-A606-10E8-3541ED42DF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AFE5227E-AF6F-5CD4-3762-3B690A4EFAC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F1DACFFD-7F12-BA1F-C994-00039280C0A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18188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822C9-93DB-8981-8DE8-9669C842C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ABC6181E-5380-5398-36BA-70EAD01E6B6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6C8F21F1-75B3-D8F1-2DB5-6F70F86F1DB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276AF22E-2A7E-F9AB-5142-9D689D32BAC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4381B90F-578B-03FE-3E62-01B123DDCA0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0352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78F39546-2C38-A484-9527-E82840466A9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62CF135A-DC57-BFA7-737D-7E89CABB270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3" name="Рисунок 2">
            <a:extLst>
              <a:ext uri="{FF2B5EF4-FFF2-40B4-BE49-F238E27FC236}">
                <a16:creationId xmlns:a16="http://schemas.microsoft.com/office/drawing/2014/main" id="{F2DF9285-C300-85F5-A106-92A286165DE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id="{3E7EB42F-DA19-C666-2E68-46C62D12946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8819B960-AE2A-9E43-B370-CD1D6A1ACE8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7186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4D3E97-5D7A-1D29-BA55-742D76C1C8C4}"/>
              </a:ext>
            </a:extLst>
          </p:cNvPr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7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2" r:id="rId2"/>
    <p:sldLayoutId id="2147483885" r:id="rId3"/>
    <p:sldLayoutId id="2147483877" r:id="rId4"/>
    <p:sldLayoutId id="2147483891" r:id="rId5"/>
    <p:sldLayoutId id="2147483883" r:id="rId6"/>
    <p:sldLayoutId id="2147483873" r:id="rId7"/>
    <p:sldLayoutId id="2147483888" r:id="rId8"/>
    <p:sldLayoutId id="2147483892" r:id="rId9"/>
    <p:sldLayoutId id="2147483874" r:id="rId10"/>
    <p:sldLayoutId id="2147483886" r:id="rId11"/>
    <p:sldLayoutId id="2147483889" r:id="rId12"/>
    <p:sldLayoutId id="2147483893" r:id="rId13"/>
    <p:sldLayoutId id="2147483879" r:id="rId14"/>
    <p:sldLayoutId id="2147483887" r:id="rId15"/>
    <p:sldLayoutId id="2147483890" r:id="rId16"/>
    <p:sldLayoutId id="2147483880" r:id="rId17"/>
    <p:sldLayoutId id="2147483894" r:id="rId18"/>
    <p:sldLayoutId id="2147483875" r:id="rId19"/>
    <p:sldLayoutId id="2147483881" r:id="rId20"/>
    <p:sldLayoutId id="2147483882" r:id="rId21"/>
    <p:sldLayoutId id="2147483706" r:id="rId22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ALS Gorizont Bold Expanded" panose="00000805000000000000" pitchFamily="50" charset="0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103A46-808A-1699-302A-1E212F1429AF}"/>
              </a:ext>
            </a:extLst>
          </p:cNvPr>
          <p:cNvSpPr txBox="1"/>
          <p:nvPr/>
        </p:nvSpPr>
        <p:spPr>
          <a:xfrm>
            <a:off x="3703320" y="1942856"/>
            <a:ext cx="1737360" cy="6400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sz="3600" b="1" dirty="0">
                <a:solidFill>
                  <a:srgbClr val="FFFFFF"/>
                </a:solidFill>
                <a:latin typeface="Arial"/>
              </a:rPr>
              <a:t>РГР 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E3E21C-201F-D2AE-55E2-1911CD6C298E}"/>
              </a:ext>
            </a:extLst>
          </p:cNvPr>
          <p:cNvSpPr txBox="1"/>
          <p:nvPr/>
        </p:nvSpPr>
        <p:spPr>
          <a:xfrm>
            <a:off x="2066699" y="2805439"/>
            <a:ext cx="501060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sz="3200" b="1" dirty="0" err="1">
                <a:solidFill>
                  <a:srgbClr val="FFFFFF"/>
                </a:solidFill>
                <a:latin typeface="Arial"/>
              </a:rPr>
              <a:t>Регрессионные</a:t>
            </a:r>
            <a:r>
              <a:rPr sz="3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Arial"/>
              </a:rPr>
              <a:t>модели</a:t>
            </a:r>
            <a:endParaRPr lang="ru-RU" sz="3200" b="1" dirty="0">
              <a:solidFill>
                <a:srgbClr val="FFFFFF"/>
              </a:solidFill>
              <a:latin typeface="Arial"/>
            </a:endParaRPr>
          </a:p>
          <a:p>
            <a:pPr algn="ctr"/>
            <a:r>
              <a:rPr sz="3200" b="1" dirty="0">
                <a:solidFill>
                  <a:srgbClr val="FFFFFF"/>
                </a:solidFill>
                <a:latin typeface="Arial"/>
              </a:rPr>
              <a:t>и </a:t>
            </a:r>
            <a:r>
              <a:rPr sz="3200" b="1" dirty="0" err="1">
                <a:solidFill>
                  <a:srgbClr val="FFFFFF"/>
                </a:solidFill>
                <a:latin typeface="Arial"/>
              </a:rPr>
              <a:t>их</a:t>
            </a:r>
            <a:r>
              <a:rPr sz="3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Arial"/>
              </a:rPr>
              <a:t>интерпретация</a:t>
            </a:r>
            <a:endParaRPr sz="3200" b="1" dirty="0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717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67E34-EE3B-7926-92A6-393AF9FDA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48704099-FBA9-4A2F-7826-5BF18C003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1 Цель работы</a:t>
            </a:r>
            <a:endParaRPr lang="ru-RU" sz="31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0F719D-9793-9489-C771-A3B69A46D054}"/>
              </a:ext>
            </a:extLst>
          </p:cNvPr>
          <p:cNvSpPr txBox="1"/>
          <p:nvPr/>
        </p:nvSpPr>
        <p:spPr>
          <a:xfrm>
            <a:off x="612204" y="1730915"/>
            <a:ext cx="68243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sz="2000" dirty="0">
                <a:solidFill>
                  <a:srgbClr val="7030A0"/>
                </a:solidFill>
                <a:latin typeface="Arial"/>
              </a:rPr>
              <a:t>Цель </a:t>
            </a:r>
            <a:r>
              <a:rPr sz="2000" dirty="0" err="1">
                <a:solidFill>
                  <a:srgbClr val="7030A0"/>
                </a:solidFill>
                <a:latin typeface="Arial"/>
              </a:rPr>
              <a:t>работы</a:t>
            </a:r>
            <a:r>
              <a:rPr sz="2000" dirty="0">
                <a:solidFill>
                  <a:srgbClr val="7030A0"/>
                </a:solidFill>
                <a:latin typeface="Arial"/>
              </a:rPr>
              <a:t> — </a:t>
            </a:r>
            <a:r>
              <a:rPr sz="2000" dirty="0" err="1">
                <a:solidFill>
                  <a:srgbClr val="7030A0"/>
                </a:solidFill>
                <a:latin typeface="Arial"/>
              </a:rPr>
              <a:t>оценить</a:t>
            </a:r>
            <a:r>
              <a:rPr sz="2000" dirty="0">
                <a:solidFill>
                  <a:srgbClr val="7030A0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7030A0"/>
                </a:solidFill>
                <a:latin typeface="Arial"/>
              </a:rPr>
              <a:t>функцию</a:t>
            </a:r>
            <a:r>
              <a:rPr sz="2000" dirty="0">
                <a:solidFill>
                  <a:srgbClr val="7030A0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7030A0"/>
                </a:solidFill>
                <a:latin typeface="Arial"/>
              </a:rPr>
              <a:t>регрессии</a:t>
            </a:r>
            <a:r>
              <a:rPr sz="2000" dirty="0">
                <a:solidFill>
                  <a:srgbClr val="7030A0"/>
                </a:solidFill>
                <a:latin typeface="Arial"/>
              </a:rPr>
              <a:t> и </a:t>
            </a:r>
            <a:r>
              <a:rPr sz="2000" dirty="0" err="1">
                <a:solidFill>
                  <a:srgbClr val="7030A0"/>
                </a:solidFill>
                <a:latin typeface="Arial"/>
              </a:rPr>
              <a:t>сравнить</a:t>
            </a:r>
            <a:r>
              <a:rPr sz="2000" dirty="0">
                <a:solidFill>
                  <a:srgbClr val="7030A0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7030A0"/>
                </a:solidFill>
                <a:latin typeface="Arial"/>
              </a:rPr>
              <a:t>несколько</a:t>
            </a:r>
            <a:r>
              <a:rPr sz="2000" dirty="0">
                <a:solidFill>
                  <a:srgbClr val="7030A0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7030A0"/>
                </a:solidFill>
                <a:latin typeface="Arial"/>
              </a:rPr>
              <a:t>моделей</a:t>
            </a:r>
            <a:r>
              <a:rPr sz="2000" dirty="0">
                <a:solidFill>
                  <a:srgbClr val="7030A0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7030A0"/>
                </a:solidFill>
                <a:latin typeface="Arial"/>
              </a:rPr>
              <a:t>зависимости</a:t>
            </a:r>
            <a:r>
              <a:rPr sz="2000" dirty="0">
                <a:solidFill>
                  <a:srgbClr val="7030A0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7030A0"/>
                </a:solidFill>
                <a:latin typeface="Arial"/>
              </a:rPr>
              <a:t>результативного</a:t>
            </a:r>
            <a:r>
              <a:rPr sz="2000" dirty="0">
                <a:solidFill>
                  <a:srgbClr val="7030A0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7030A0"/>
                </a:solidFill>
                <a:latin typeface="Arial"/>
              </a:rPr>
              <a:t>признака</a:t>
            </a:r>
            <a:r>
              <a:rPr sz="2000" dirty="0">
                <a:solidFill>
                  <a:srgbClr val="7030A0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7030A0"/>
                </a:solidFill>
                <a:latin typeface="Arial"/>
              </a:rPr>
              <a:t>от</a:t>
            </a:r>
            <a:r>
              <a:rPr sz="2000" dirty="0">
                <a:solidFill>
                  <a:srgbClr val="7030A0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7030A0"/>
                </a:solidFill>
                <a:latin typeface="Arial"/>
              </a:rPr>
              <a:t>одного</a:t>
            </a:r>
            <a:r>
              <a:rPr sz="2000" dirty="0">
                <a:solidFill>
                  <a:srgbClr val="7030A0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7030A0"/>
                </a:solidFill>
                <a:latin typeface="Arial"/>
              </a:rPr>
              <a:t>фактора</a:t>
            </a:r>
            <a:endParaRPr sz="2000" dirty="0">
              <a:solidFill>
                <a:srgbClr val="7030A0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28ED09-433B-FC88-B9AB-BE7E256F65EA}"/>
              </a:ext>
            </a:extLst>
          </p:cNvPr>
          <p:cNvSpPr txBox="1"/>
          <p:nvPr/>
        </p:nvSpPr>
        <p:spPr>
          <a:xfrm>
            <a:off x="1144939" y="2953736"/>
            <a:ext cx="70346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500">
                <a:solidFill>
                  <a:srgbClr val="E73A11"/>
                </a:solidFill>
                <a:latin typeface="Arial"/>
              </a:rPr>
              <a:t>ЭТАПЫ РАБОТЫ</a:t>
            </a:r>
          </a:p>
          <a:p>
            <a:r>
              <a:rPr sz="1500">
                <a:solidFill>
                  <a:srgbClr val="E73A11"/>
                </a:solidFill>
                <a:latin typeface="Arial"/>
              </a:rPr>
              <a:t>• Первичный анализ данных и диаграмма рассеяния</a:t>
            </a:r>
          </a:p>
          <a:p>
            <a:r>
              <a:rPr sz="1500">
                <a:solidFill>
                  <a:srgbClr val="E73A11"/>
                </a:solidFill>
                <a:latin typeface="Arial"/>
              </a:rPr>
              <a:t>• Построение трёх регрессионных моделей</a:t>
            </a:r>
          </a:p>
          <a:p>
            <a:r>
              <a:rPr sz="1500">
                <a:solidFill>
                  <a:srgbClr val="E73A11"/>
                </a:solidFill>
                <a:latin typeface="Arial"/>
              </a:rPr>
              <a:t>• Сравнение качества аппроксимации</a:t>
            </a:r>
          </a:p>
          <a:p>
            <a:r>
              <a:rPr sz="1500">
                <a:solidFill>
                  <a:srgbClr val="E73A11"/>
                </a:solidFill>
                <a:latin typeface="Arial"/>
              </a:rPr>
              <a:t>• Статистический анализ линейной модели</a:t>
            </a:r>
          </a:p>
          <a:p>
            <a:r>
              <a:rPr sz="1500">
                <a:solidFill>
                  <a:srgbClr val="E73A11"/>
                </a:solidFill>
                <a:latin typeface="Arial"/>
              </a:rPr>
              <a:t>• Прогноз и содержательная интерпретация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75ECA6-361F-A387-4EAE-B4C858688BFC}"/>
              </a:ext>
            </a:extLst>
          </p:cNvPr>
          <p:cNvSpPr txBox="1"/>
          <p:nvPr/>
        </p:nvSpPr>
        <p:spPr>
          <a:xfrm>
            <a:off x="3121776" y="989929"/>
            <a:ext cx="47438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1" i="1" dirty="0">
                <a:solidFill>
                  <a:srgbClr val="7030A0"/>
                </a:solidFill>
              </a:rPr>
              <a:t>Регрессия помогает увидеть закономерность там, где сначала видны только точки</a:t>
            </a:r>
            <a:endParaRPr sz="1600" b="1" i="1" dirty="0">
              <a:solidFill>
                <a:srgbClr val="7030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85531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605A6-0E36-1A25-77EE-24B55C744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3A74B9B7-C3BB-146B-112B-10FD70B1C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2 Исходные данные и условия варианта</a:t>
            </a:r>
            <a:endParaRPr lang="ru-RU" sz="31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251D38-BD43-4C21-5A60-0A7B316D7D86}"/>
              </a:ext>
            </a:extLst>
          </p:cNvPr>
          <p:cNvSpPr txBox="1"/>
          <p:nvPr/>
        </p:nvSpPr>
        <p:spPr>
          <a:xfrm>
            <a:off x="644263" y="1748726"/>
            <a:ext cx="7766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>
                <a:solidFill>
                  <a:srgbClr val="7030A0"/>
                </a:solidFill>
                <a:latin typeface="Arial"/>
              </a:rPr>
              <a:t>CSV-файл варианта содержит два столбца:  x — фактор,  y — результат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22F53-343D-CB66-19F7-C95FF54DA0BD}"/>
              </a:ext>
            </a:extLst>
          </p:cNvPr>
          <p:cNvSpPr txBox="1"/>
          <p:nvPr/>
        </p:nvSpPr>
        <p:spPr>
          <a:xfrm>
            <a:off x="686828" y="2377528"/>
            <a:ext cx="7681405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sz="1500" dirty="0">
                <a:solidFill>
                  <a:srgbClr val="E73A11"/>
                </a:solidFill>
                <a:latin typeface="Arial"/>
              </a:rPr>
              <a:t>Вариант </a:t>
            </a:r>
            <a:r>
              <a:rPr sz="1500" dirty="0" err="1">
                <a:solidFill>
                  <a:srgbClr val="E73A11"/>
                </a:solidFill>
                <a:latin typeface="Arial"/>
              </a:rPr>
              <a:t>задаёт</a:t>
            </a:r>
            <a:r>
              <a:rPr sz="1500" dirty="0">
                <a:solidFill>
                  <a:srgbClr val="E73A11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E73A11"/>
                </a:solidFill>
                <a:latin typeface="Arial"/>
              </a:rPr>
              <a:t>предметную</a:t>
            </a:r>
            <a:r>
              <a:rPr sz="1500" dirty="0">
                <a:solidFill>
                  <a:srgbClr val="E73A11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E73A11"/>
                </a:solidFill>
                <a:latin typeface="Arial"/>
              </a:rPr>
              <a:t>область</a:t>
            </a:r>
            <a:r>
              <a:rPr sz="1500" dirty="0">
                <a:solidFill>
                  <a:srgbClr val="E73A11"/>
                </a:solidFill>
                <a:latin typeface="Arial"/>
              </a:rPr>
              <a:t> и </a:t>
            </a:r>
            <a:r>
              <a:rPr sz="1500" dirty="0" err="1">
                <a:solidFill>
                  <a:srgbClr val="E73A11"/>
                </a:solidFill>
                <a:latin typeface="Arial"/>
              </a:rPr>
              <a:t>источник</a:t>
            </a:r>
            <a:r>
              <a:rPr sz="1500" dirty="0">
                <a:solidFill>
                  <a:srgbClr val="E73A11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E73A11"/>
                </a:solidFill>
                <a:latin typeface="Arial"/>
              </a:rPr>
              <a:t>данных</a:t>
            </a:r>
            <a:endParaRPr sz="1500" dirty="0">
              <a:solidFill>
                <a:srgbClr val="E73A11"/>
              </a:solidFill>
              <a:latin typeface="Arial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sz="1500" dirty="0">
                <a:solidFill>
                  <a:srgbClr val="E73A11"/>
                </a:solidFill>
                <a:latin typeface="Arial"/>
              </a:rPr>
              <a:t>Указывается </a:t>
            </a:r>
            <a:r>
              <a:rPr sz="1500" dirty="0" err="1">
                <a:solidFill>
                  <a:srgbClr val="E73A11"/>
                </a:solidFill>
                <a:latin typeface="Arial"/>
              </a:rPr>
              <a:t>правило</a:t>
            </a:r>
            <a:r>
              <a:rPr sz="1500" dirty="0">
                <a:solidFill>
                  <a:srgbClr val="E73A11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E73A11"/>
                </a:solidFill>
                <a:latin typeface="Arial"/>
              </a:rPr>
              <a:t>получения</a:t>
            </a:r>
            <a:r>
              <a:rPr sz="1500" dirty="0">
                <a:solidFill>
                  <a:srgbClr val="E73A11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E73A11"/>
                </a:solidFill>
                <a:latin typeface="Arial"/>
              </a:rPr>
              <a:t>среза</a:t>
            </a:r>
            <a:r>
              <a:rPr sz="1500" dirty="0">
                <a:solidFill>
                  <a:srgbClr val="E73A11"/>
                </a:solidFill>
                <a:latin typeface="Arial"/>
              </a:rPr>
              <a:t>, </a:t>
            </a:r>
            <a:r>
              <a:rPr sz="1500" dirty="0" err="1">
                <a:solidFill>
                  <a:srgbClr val="E73A11"/>
                </a:solidFill>
                <a:latin typeface="Arial"/>
              </a:rPr>
              <a:t>если</a:t>
            </a:r>
            <a:r>
              <a:rPr sz="1500" dirty="0">
                <a:solidFill>
                  <a:srgbClr val="E73A11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E73A11"/>
                </a:solidFill>
                <a:latin typeface="Arial"/>
              </a:rPr>
              <a:t>используется</a:t>
            </a:r>
            <a:r>
              <a:rPr sz="1500" dirty="0">
                <a:solidFill>
                  <a:srgbClr val="E73A11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E73A11"/>
                </a:solidFill>
                <a:latin typeface="Arial"/>
              </a:rPr>
              <a:t>подмножество</a:t>
            </a:r>
            <a:endParaRPr sz="1500" dirty="0">
              <a:solidFill>
                <a:srgbClr val="E73A11"/>
              </a:solidFill>
              <a:latin typeface="Arial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sz="1500" dirty="0">
                <a:solidFill>
                  <a:srgbClr val="E73A11"/>
                </a:solidFill>
                <a:latin typeface="Arial"/>
              </a:rPr>
              <a:t>Для </a:t>
            </a:r>
            <a:r>
              <a:rPr sz="1500" dirty="0" err="1">
                <a:solidFill>
                  <a:srgbClr val="E73A11"/>
                </a:solidFill>
                <a:latin typeface="Arial"/>
              </a:rPr>
              <a:t>сравнения</a:t>
            </a:r>
            <a:r>
              <a:rPr sz="1500" dirty="0">
                <a:solidFill>
                  <a:srgbClr val="E73A11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E73A11"/>
                </a:solidFill>
                <a:latin typeface="Arial"/>
              </a:rPr>
              <a:t>обязательны</a:t>
            </a:r>
            <a:r>
              <a:rPr sz="1500" dirty="0">
                <a:solidFill>
                  <a:srgbClr val="E73A11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E73A11"/>
                </a:solidFill>
                <a:latin typeface="Arial"/>
              </a:rPr>
              <a:t>три</a:t>
            </a:r>
            <a:r>
              <a:rPr sz="1500" dirty="0">
                <a:solidFill>
                  <a:srgbClr val="E73A11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E73A11"/>
                </a:solidFill>
                <a:latin typeface="Arial"/>
              </a:rPr>
              <a:t>модели</a:t>
            </a:r>
            <a:r>
              <a:rPr sz="1500" dirty="0">
                <a:solidFill>
                  <a:srgbClr val="E73A11"/>
                </a:solidFill>
                <a:latin typeface="Arial"/>
              </a:rPr>
              <a:t>:</a:t>
            </a:r>
          </a:p>
          <a:p>
            <a:r>
              <a:rPr sz="1500" dirty="0">
                <a:solidFill>
                  <a:srgbClr val="E73A11"/>
                </a:solidFill>
                <a:latin typeface="Arial"/>
              </a:rPr>
              <a:t>   • </a:t>
            </a:r>
            <a:r>
              <a:rPr sz="1500" dirty="0" err="1">
                <a:solidFill>
                  <a:srgbClr val="E73A11"/>
                </a:solidFill>
                <a:latin typeface="Arial"/>
              </a:rPr>
              <a:t>линейная</a:t>
            </a:r>
            <a:r>
              <a:rPr sz="1500" dirty="0">
                <a:solidFill>
                  <a:srgbClr val="E73A11"/>
                </a:solidFill>
                <a:latin typeface="Arial"/>
              </a:rPr>
              <a:t>: y = a + bx</a:t>
            </a:r>
          </a:p>
          <a:p>
            <a:r>
              <a:rPr sz="1500" dirty="0">
                <a:solidFill>
                  <a:srgbClr val="E73A11"/>
                </a:solidFill>
                <a:latin typeface="Arial"/>
              </a:rPr>
              <a:t>   • </a:t>
            </a:r>
            <a:r>
              <a:rPr sz="1500" dirty="0" err="1">
                <a:solidFill>
                  <a:srgbClr val="E73A11"/>
                </a:solidFill>
                <a:latin typeface="Arial"/>
              </a:rPr>
              <a:t>квадратичная</a:t>
            </a:r>
            <a:r>
              <a:rPr sz="1500" dirty="0">
                <a:solidFill>
                  <a:srgbClr val="E73A11"/>
                </a:solidFill>
                <a:latin typeface="Arial"/>
              </a:rPr>
              <a:t>: y = a + bx + cx²</a:t>
            </a:r>
          </a:p>
          <a:p>
            <a:r>
              <a:rPr sz="1500" dirty="0">
                <a:solidFill>
                  <a:srgbClr val="E73A11"/>
                </a:solidFill>
                <a:latin typeface="Arial"/>
              </a:rPr>
              <a:t>   • </a:t>
            </a:r>
            <a:r>
              <a:rPr sz="1500" dirty="0" err="1">
                <a:solidFill>
                  <a:srgbClr val="E73A11"/>
                </a:solidFill>
                <a:latin typeface="Arial"/>
              </a:rPr>
              <a:t>дополнительная</a:t>
            </a:r>
            <a:r>
              <a:rPr sz="1500" dirty="0">
                <a:solidFill>
                  <a:srgbClr val="E73A11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E73A11"/>
                </a:solidFill>
                <a:latin typeface="Arial"/>
              </a:rPr>
              <a:t>модель</a:t>
            </a:r>
            <a:r>
              <a:rPr sz="1500" dirty="0">
                <a:solidFill>
                  <a:srgbClr val="E73A11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E73A11"/>
                </a:solidFill>
                <a:latin typeface="Arial"/>
              </a:rPr>
              <a:t>из</a:t>
            </a:r>
            <a:r>
              <a:rPr sz="1500" dirty="0">
                <a:solidFill>
                  <a:srgbClr val="E73A11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E73A11"/>
                </a:solidFill>
                <a:latin typeface="Arial"/>
              </a:rPr>
              <a:t>карточки</a:t>
            </a:r>
            <a:r>
              <a:rPr sz="1500" dirty="0">
                <a:solidFill>
                  <a:srgbClr val="E73A11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E73A11"/>
                </a:solidFill>
                <a:latin typeface="Arial"/>
              </a:rPr>
              <a:t>варианта</a:t>
            </a:r>
            <a:endParaRPr sz="1500" dirty="0">
              <a:solidFill>
                <a:srgbClr val="E73A11"/>
              </a:solidFill>
              <a:latin typeface="Arial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sz="1500" dirty="0">
                <a:solidFill>
                  <a:srgbClr val="E73A11"/>
                </a:solidFill>
                <a:latin typeface="Arial"/>
              </a:rPr>
              <a:t>Для </a:t>
            </a:r>
            <a:r>
              <a:rPr sz="1500" dirty="0" err="1">
                <a:solidFill>
                  <a:srgbClr val="E73A11"/>
                </a:solidFill>
                <a:latin typeface="Arial"/>
              </a:rPr>
              <a:t>заданного</a:t>
            </a:r>
            <a:r>
              <a:rPr sz="1500" dirty="0">
                <a:solidFill>
                  <a:srgbClr val="E73A11"/>
                </a:solidFill>
                <a:latin typeface="Arial"/>
              </a:rPr>
              <a:t> x* </a:t>
            </a:r>
            <a:r>
              <a:rPr sz="1500" dirty="0" err="1">
                <a:solidFill>
                  <a:srgbClr val="E73A11"/>
                </a:solidFill>
                <a:latin typeface="Arial"/>
              </a:rPr>
              <a:t>требуется</a:t>
            </a:r>
            <a:r>
              <a:rPr sz="1500" dirty="0">
                <a:solidFill>
                  <a:srgbClr val="E73A11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E73A11"/>
                </a:solidFill>
                <a:latin typeface="Arial"/>
              </a:rPr>
              <a:t>получить</a:t>
            </a:r>
            <a:r>
              <a:rPr sz="1500" dirty="0">
                <a:solidFill>
                  <a:srgbClr val="E73A11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E73A11"/>
                </a:solidFill>
                <a:latin typeface="Arial"/>
              </a:rPr>
              <a:t>прогноз</a:t>
            </a:r>
            <a:endParaRPr sz="1500" dirty="0">
              <a:solidFill>
                <a:srgbClr val="E73A11"/>
              </a:solidFill>
              <a:latin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EB79B8-6A4C-3D41-DD4D-52C287A0AD6C}"/>
              </a:ext>
            </a:extLst>
          </p:cNvPr>
          <p:cNvSpPr txBox="1"/>
          <p:nvPr/>
        </p:nvSpPr>
        <p:spPr>
          <a:xfrm>
            <a:off x="3726765" y="1030897"/>
            <a:ext cx="43271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1" i="1" dirty="0">
                <a:solidFill>
                  <a:srgbClr val="7030A0"/>
                </a:solidFill>
              </a:rPr>
              <a:t>У каждой зависимости есть свой контекст</a:t>
            </a:r>
            <a:endParaRPr sz="1600" b="1" i="1" dirty="0">
              <a:solidFill>
                <a:srgbClr val="7030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5174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58866-AA51-577F-401C-B62CF2215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B573702D-101C-0819-416C-76AD61C2D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3 Общая схема исследования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38B3C0-893D-AB89-1F27-77187130C1A0}"/>
              </a:ext>
            </a:extLst>
          </p:cNvPr>
          <p:cNvSpPr txBox="1"/>
          <p:nvPr/>
        </p:nvSpPr>
        <p:spPr>
          <a:xfrm>
            <a:off x="731297" y="2162236"/>
            <a:ext cx="7681405" cy="1931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sz="1600" dirty="0">
                <a:solidFill>
                  <a:srgbClr val="7030A0"/>
                </a:solidFill>
                <a:latin typeface="Arial"/>
              </a:rPr>
              <a:t>Загружаем </a:t>
            </a:r>
            <a:r>
              <a:rPr sz="1600" dirty="0" err="1">
                <a:solidFill>
                  <a:srgbClr val="7030A0"/>
                </a:solidFill>
                <a:latin typeface="Arial"/>
              </a:rPr>
              <a:t>данные</a:t>
            </a:r>
            <a:r>
              <a:rPr sz="1600" dirty="0">
                <a:solidFill>
                  <a:srgbClr val="7030A0"/>
                </a:solidFill>
                <a:latin typeface="Arial"/>
              </a:rPr>
              <a:t> и </a:t>
            </a:r>
            <a:r>
              <a:rPr sz="1600" dirty="0" err="1">
                <a:solidFill>
                  <a:srgbClr val="7030A0"/>
                </a:solidFill>
                <a:latin typeface="Arial"/>
              </a:rPr>
              <a:t>описываем</a:t>
            </a:r>
            <a:r>
              <a:rPr sz="1600" dirty="0">
                <a:solidFill>
                  <a:srgbClr val="7030A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7030A0"/>
                </a:solidFill>
                <a:latin typeface="Arial"/>
              </a:rPr>
              <a:t>источник</a:t>
            </a:r>
            <a:endParaRPr lang="ru-RU" baseline="-25000" dirty="0">
              <a:solidFill>
                <a:srgbClr val="7030A0"/>
              </a:solidFill>
              <a:latin typeface="system-ui"/>
              <a:sym typeface="Symbol" panose="05050102010706020507" pitchFamily="18" charset="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sz="1600" dirty="0">
                <a:solidFill>
                  <a:srgbClr val="7030A0"/>
                </a:solidFill>
                <a:latin typeface="Arial"/>
              </a:rPr>
              <a:t>Строим </a:t>
            </a:r>
            <a:r>
              <a:rPr sz="1600" dirty="0" err="1">
                <a:solidFill>
                  <a:srgbClr val="7030A0"/>
                </a:solidFill>
                <a:latin typeface="Arial"/>
              </a:rPr>
              <a:t>диаграмму</a:t>
            </a:r>
            <a:r>
              <a:rPr sz="1600" dirty="0">
                <a:solidFill>
                  <a:srgbClr val="7030A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7030A0"/>
                </a:solidFill>
                <a:latin typeface="Arial"/>
              </a:rPr>
              <a:t>рассеяния</a:t>
            </a:r>
            <a:r>
              <a:rPr sz="1600" dirty="0">
                <a:solidFill>
                  <a:srgbClr val="7030A0"/>
                </a:solidFill>
                <a:latin typeface="Arial"/>
              </a:rPr>
              <a:t> и </a:t>
            </a:r>
            <a:r>
              <a:rPr sz="1600" dirty="0" err="1">
                <a:solidFill>
                  <a:srgbClr val="7030A0"/>
                </a:solidFill>
                <a:latin typeface="Arial"/>
              </a:rPr>
              <a:t>формулируем</a:t>
            </a:r>
            <a:r>
              <a:rPr sz="1600" dirty="0">
                <a:solidFill>
                  <a:srgbClr val="7030A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7030A0"/>
                </a:solidFill>
                <a:latin typeface="Arial"/>
              </a:rPr>
              <a:t>гипотезу</a:t>
            </a:r>
            <a:r>
              <a:rPr sz="1600" dirty="0">
                <a:solidFill>
                  <a:srgbClr val="7030A0"/>
                </a:solidFill>
                <a:latin typeface="Arial"/>
              </a:rPr>
              <a:t> о </a:t>
            </a:r>
            <a:r>
              <a:rPr sz="1600" dirty="0" err="1">
                <a:solidFill>
                  <a:srgbClr val="7030A0"/>
                </a:solidFill>
                <a:latin typeface="Arial"/>
              </a:rPr>
              <a:t>связи</a:t>
            </a:r>
            <a:endParaRPr sz="1600" dirty="0">
              <a:solidFill>
                <a:srgbClr val="7030A0"/>
              </a:solidFill>
              <a:latin typeface="Arial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sz="1600" dirty="0">
                <a:solidFill>
                  <a:srgbClr val="7030A0"/>
                </a:solidFill>
                <a:latin typeface="Arial"/>
              </a:rPr>
              <a:t>Оцениваем </a:t>
            </a:r>
            <a:r>
              <a:rPr sz="1600" dirty="0" err="1">
                <a:solidFill>
                  <a:srgbClr val="7030A0"/>
                </a:solidFill>
                <a:latin typeface="Arial"/>
              </a:rPr>
              <a:t>параметры</a:t>
            </a:r>
            <a:r>
              <a:rPr sz="1600" dirty="0">
                <a:solidFill>
                  <a:srgbClr val="7030A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7030A0"/>
                </a:solidFill>
                <a:latin typeface="Arial"/>
              </a:rPr>
              <a:t>трёх</a:t>
            </a:r>
            <a:r>
              <a:rPr sz="1600" dirty="0">
                <a:solidFill>
                  <a:srgbClr val="7030A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7030A0"/>
                </a:solidFill>
                <a:latin typeface="Arial"/>
              </a:rPr>
              <a:t>моделей</a:t>
            </a:r>
            <a:endParaRPr sz="1600" dirty="0">
              <a:solidFill>
                <a:srgbClr val="7030A0"/>
              </a:solidFill>
              <a:latin typeface="Arial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sz="1600" dirty="0" err="1">
                <a:solidFill>
                  <a:srgbClr val="7030A0"/>
                </a:solidFill>
                <a:latin typeface="Arial"/>
              </a:rPr>
              <a:t>Сравниваем</a:t>
            </a:r>
            <a:r>
              <a:rPr sz="1600" dirty="0">
                <a:solidFill>
                  <a:srgbClr val="7030A0"/>
                </a:solidFill>
                <a:latin typeface="Arial"/>
              </a:rPr>
              <a:t> R², </a:t>
            </a:r>
            <a:r>
              <a:rPr sz="1600" dirty="0" err="1">
                <a:solidFill>
                  <a:srgbClr val="7030A0"/>
                </a:solidFill>
                <a:latin typeface="Arial"/>
              </a:rPr>
              <a:t>ошибку</a:t>
            </a:r>
            <a:r>
              <a:rPr sz="1600" dirty="0">
                <a:solidFill>
                  <a:srgbClr val="7030A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7030A0"/>
                </a:solidFill>
                <a:latin typeface="Arial"/>
              </a:rPr>
              <a:t>аппроксимации</a:t>
            </a:r>
            <a:r>
              <a:rPr sz="1600" dirty="0">
                <a:solidFill>
                  <a:srgbClr val="7030A0"/>
                </a:solidFill>
                <a:latin typeface="Arial"/>
              </a:rPr>
              <a:t> и </a:t>
            </a:r>
            <a:r>
              <a:rPr sz="1600" dirty="0" err="1">
                <a:solidFill>
                  <a:srgbClr val="7030A0"/>
                </a:solidFill>
                <a:latin typeface="Arial"/>
              </a:rPr>
              <a:t>остатки</a:t>
            </a:r>
            <a:endParaRPr sz="1600" dirty="0">
              <a:solidFill>
                <a:srgbClr val="7030A0"/>
              </a:solidFill>
              <a:latin typeface="Arial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sz="1600" dirty="0">
                <a:solidFill>
                  <a:srgbClr val="7030A0"/>
                </a:solidFill>
                <a:latin typeface="Arial"/>
              </a:rPr>
              <a:t>Выбираем </a:t>
            </a:r>
            <a:r>
              <a:rPr sz="1600" dirty="0" err="1">
                <a:solidFill>
                  <a:srgbClr val="7030A0"/>
                </a:solidFill>
                <a:latin typeface="Arial"/>
              </a:rPr>
              <a:t>модель</a:t>
            </a:r>
            <a:r>
              <a:rPr sz="1600" dirty="0">
                <a:solidFill>
                  <a:srgbClr val="7030A0"/>
                </a:solidFill>
                <a:latin typeface="Arial"/>
              </a:rPr>
              <a:t> для </a:t>
            </a:r>
            <a:r>
              <a:rPr sz="1600" dirty="0" err="1">
                <a:solidFill>
                  <a:srgbClr val="7030A0"/>
                </a:solidFill>
                <a:latin typeface="Arial"/>
              </a:rPr>
              <a:t>прогноза</a:t>
            </a:r>
            <a:r>
              <a:rPr sz="1600" dirty="0">
                <a:solidFill>
                  <a:srgbClr val="7030A0"/>
                </a:solidFill>
                <a:latin typeface="Arial"/>
              </a:rPr>
              <a:t> и </a:t>
            </a:r>
            <a:r>
              <a:rPr sz="1600" dirty="0" err="1">
                <a:solidFill>
                  <a:srgbClr val="7030A0"/>
                </a:solidFill>
                <a:latin typeface="Arial"/>
              </a:rPr>
              <a:t>объясняем</a:t>
            </a:r>
            <a:r>
              <a:rPr sz="1600" dirty="0">
                <a:solidFill>
                  <a:srgbClr val="7030A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7030A0"/>
                </a:solidFill>
                <a:latin typeface="Arial"/>
              </a:rPr>
              <a:t>результат</a:t>
            </a:r>
            <a:endParaRPr sz="1600" dirty="0">
              <a:solidFill>
                <a:srgbClr val="7030A0"/>
              </a:solidFill>
              <a:latin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1D43CC-8C7B-300D-EE58-758FDF758382}"/>
              </a:ext>
            </a:extLst>
          </p:cNvPr>
          <p:cNvSpPr txBox="1"/>
          <p:nvPr/>
        </p:nvSpPr>
        <p:spPr>
          <a:xfrm>
            <a:off x="731297" y="1561942"/>
            <a:ext cx="74754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 err="1">
                <a:solidFill>
                  <a:srgbClr val="E73A11"/>
                </a:solidFill>
                <a:latin typeface="Arial"/>
              </a:rPr>
              <a:t>данные</a:t>
            </a:r>
            <a:r>
              <a:rPr sz="1800" b="1" dirty="0">
                <a:solidFill>
                  <a:srgbClr val="E73A11"/>
                </a:solidFill>
                <a:latin typeface="Arial"/>
              </a:rPr>
              <a:t> → </a:t>
            </a:r>
            <a:r>
              <a:rPr sz="1800" b="1" dirty="0" err="1">
                <a:solidFill>
                  <a:srgbClr val="E73A11"/>
                </a:solidFill>
                <a:latin typeface="Arial"/>
              </a:rPr>
              <a:t>график</a:t>
            </a:r>
            <a:r>
              <a:rPr sz="1800" b="1" dirty="0">
                <a:solidFill>
                  <a:srgbClr val="E73A11"/>
                </a:solidFill>
                <a:latin typeface="Arial"/>
              </a:rPr>
              <a:t> → </a:t>
            </a:r>
            <a:r>
              <a:rPr sz="1800" b="1" dirty="0" err="1">
                <a:solidFill>
                  <a:srgbClr val="E73A11"/>
                </a:solidFill>
                <a:latin typeface="Arial"/>
              </a:rPr>
              <a:t>модели</a:t>
            </a:r>
            <a:r>
              <a:rPr sz="1800" b="1" dirty="0">
                <a:solidFill>
                  <a:srgbClr val="E73A11"/>
                </a:solidFill>
                <a:latin typeface="Arial"/>
              </a:rPr>
              <a:t> → </a:t>
            </a:r>
            <a:r>
              <a:rPr sz="1800" b="1" dirty="0" err="1">
                <a:solidFill>
                  <a:srgbClr val="E73A11"/>
                </a:solidFill>
                <a:latin typeface="Arial"/>
              </a:rPr>
              <a:t>качество</a:t>
            </a:r>
            <a:r>
              <a:rPr sz="1800" b="1" dirty="0">
                <a:solidFill>
                  <a:srgbClr val="E73A11"/>
                </a:solidFill>
                <a:latin typeface="Arial"/>
              </a:rPr>
              <a:t> → </a:t>
            </a:r>
            <a:r>
              <a:rPr sz="1800" b="1" dirty="0" err="1">
                <a:solidFill>
                  <a:srgbClr val="E73A11"/>
                </a:solidFill>
                <a:latin typeface="Arial"/>
              </a:rPr>
              <a:t>прогноз</a:t>
            </a:r>
            <a:r>
              <a:rPr sz="1800" b="1" dirty="0">
                <a:solidFill>
                  <a:srgbClr val="E73A11"/>
                </a:solidFill>
                <a:latin typeface="Arial"/>
              </a:rPr>
              <a:t> →</a:t>
            </a:r>
            <a:r>
              <a:rPr lang="ru-RU" b="1" dirty="0">
                <a:solidFill>
                  <a:srgbClr val="E73A11"/>
                </a:solidFill>
                <a:latin typeface="Arial"/>
              </a:rPr>
              <a:t> выводы</a:t>
            </a:r>
            <a:endParaRPr sz="1800" b="1" dirty="0">
              <a:solidFill>
                <a:srgbClr val="E73A11"/>
              </a:solidFill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4BB950-4771-3310-BC63-ACB5BC134306}"/>
              </a:ext>
            </a:extLst>
          </p:cNvPr>
          <p:cNvSpPr txBox="1"/>
          <p:nvPr/>
        </p:nvSpPr>
        <p:spPr>
          <a:xfrm>
            <a:off x="3059632" y="1080526"/>
            <a:ext cx="47438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1" i="1" dirty="0">
                <a:solidFill>
                  <a:srgbClr val="7030A0"/>
                </a:solidFill>
              </a:rPr>
              <a:t>От данных — к модели, от модели — к выводу</a:t>
            </a:r>
            <a:endParaRPr sz="1600" b="1" i="1" dirty="0">
              <a:solidFill>
                <a:srgbClr val="7030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51133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AE572-8A54-2E3F-5CE3-4E61E908B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FC704A9C-75BC-12E9-1C12-BDA535663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4 Первичный анализ данных</a:t>
            </a:r>
            <a:endParaRPr lang="ru-RU" sz="31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F64BE3-769B-359B-EC7A-A0813C3DBEB8}"/>
              </a:ext>
            </a:extLst>
          </p:cNvPr>
          <p:cNvSpPr txBox="1"/>
          <p:nvPr/>
        </p:nvSpPr>
        <p:spPr>
          <a:xfrm>
            <a:off x="457200" y="1698592"/>
            <a:ext cx="76814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E73A11"/>
                </a:solidFill>
                <a:latin typeface="Arial"/>
              </a:rPr>
              <a:t>Начинаем с загрузки CSV и описания источника данных</a:t>
            </a:r>
            <a:endParaRPr lang="ru-RU" b="0" i="0" baseline="-25000" dirty="0">
              <a:solidFill>
                <a:srgbClr val="E73A11"/>
              </a:solidFill>
              <a:effectLst/>
              <a:latin typeface="system-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2FA44C-3EAD-F8D7-6B34-8A5A556A0282}"/>
              </a:ext>
            </a:extLst>
          </p:cNvPr>
          <p:cNvSpPr txBox="1"/>
          <p:nvPr/>
        </p:nvSpPr>
        <p:spPr>
          <a:xfrm>
            <a:off x="624684" y="2386836"/>
            <a:ext cx="7681405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sz="1800" dirty="0">
                <a:solidFill>
                  <a:srgbClr val="7030A0"/>
                </a:solidFill>
                <a:latin typeface="Arial"/>
              </a:rPr>
              <a:t>Загрузить значения x и 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sz="1800" dirty="0">
                <a:solidFill>
                  <a:srgbClr val="7030A0"/>
                </a:solidFill>
                <a:latin typeface="Arial"/>
              </a:rPr>
              <a:t>Указать набор данных и правило среза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sz="1800" dirty="0">
                <a:solidFill>
                  <a:srgbClr val="7030A0"/>
                </a:solidFill>
                <a:latin typeface="Arial"/>
              </a:rPr>
              <a:t>Построить диаграмму рассеяния (xᵢ, yᵢ)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sz="1800" dirty="0">
                <a:solidFill>
                  <a:srgbClr val="7030A0"/>
                </a:solidFill>
                <a:latin typeface="Arial"/>
              </a:rPr>
              <a:t>Описать направление и предполагаемую форму связи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48387A-7BCB-B2B6-20E1-2394990FE885}"/>
              </a:ext>
            </a:extLst>
          </p:cNvPr>
          <p:cNvSpPr txBox="1"/>
          <p:nvPr/>
        </p:nvSpPr>
        <p:spPr>
          <a:xfrm>
            <a:off x="3467047" y="1049453"/>
            <a:ext cx="45051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1" i="1" dirty="0">
                <a:solidFill>
                  <a:srgbClr val="7030A0"/>
                </a:solidFill>
              </a:rPr>
              <a:t>График часто говорит раньше формул</a:t>
            </a:r>
            <a:endParaRPr sz="1600" b="1" i="1" dirty="0">
              <a:solidFill>
                <a:srgbClr val="7030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68538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D37FA-489E-D51A-E02C-A60D11508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36FBD682-7D91-1727-E895-EBB36D88E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5 Линейная модель</a:t>
            </a:r>
            <a:endParaRPr lang="ru-RU" sz="31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C61518-B8CE-9E3B-4985-C231C6856C5B}"/>
              </a:ext>
            </a:extLst>
          </p:cNvPr>
          <p:cNvSpPr txBox="1"/>
          <p:nvPr/>
        </p:nvSpPr>
        <p:spPr>
          <a:xfrm>
            <a:off x="722338" y="1491592"/>
            <a:ext cx="73322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solidFill>
                  <a:srgbClr val="E73A11"/>
                </a:solidFill>
                <a:latin typeface="Arial"/>
              </a:rPr>
              <a:t>Базовая </a:t>
            </a:r>
            <a:r>
              <a:rPr sz="2000" dirty="0" err="1">
                <a:solidFill>
                  <a:srgbClr val="E73A11"/>
                </a:solidFill>
                <a:latin typeface="Arial"/>
              </a:rPr>
              <a:t>модель</a:t>
            </a:r>
            <a:r>
              <a:rPr sz="2000" dirty="0">
                <a:solidFill>
                  <a:srgbClr val="E73A11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E73A11"/>
                </a:solidFill>
                <a:latin typeface="Arial"/>
              </a:rPr>
              <a:t>зависимости</a:t>
            </a:r>
            <a:r>
              <a:rPr sz="2000" dirty="0">
                <a:solidFill>
                  <a:srgbClr val="E73A11"/>
                </a:solidFill>
                <a:latin typeface="Arial"/>
              </a:rPr>
              <a:t>:  y = a + bx</a:t>
            </a:r>
            <a:endParaRPr lang="ru-RU" b="0" i="0" dirty="0">
              <a:solidFill>
                <a:srgbClr val="E73A11"/>
              </a:solidFill>
              <a:effectLst/>
              <a:latin typeface="system-u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755473-CB93-E73E-98E4-CBCCDB7D1E4A}"/>
              </a:ext>
            </a:extLst>
          </p:cNvPr>
          <p:cNvSpPr txBox="1"/>
          <p:nvPr/>
        </p:nvSpPr>
        <p:spPr>
          <a:xfrm>
            <a:off x="3202149" y="1050942"/>
            <a:ext cx="49228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1" i="1" dirty="0">
                <a:solidFill>
                  <a:srgbClr val="7030A0"/>
                </a:solidFill>
              </a:rPr>
              <a:t>Простая модель — не значит слабая модель</a:t>
            </a:r>
            <a:endParaRPr sz="1600" b="1" i="1" dirty="0">
              <a:solidFill>
                <a:srgbClr val="7030A0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804957-5BA6-62AB-99E3-0E4110A11791}"/>
              </a:ext>
            </a:extLst>
          </p:cNvPr>
          <p:cNvSpPr txBox="1"/>
          <p:nvPr/>
        </p:nvSpPr>
        <p:spPr>
          <a:xfrm>
            <a:off x="722338" y="2008307"/>
            <a:ext cx="7681405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sz="1800" dirty="0" err="1">
                <a:solidFill>
                  <a:srgbClr val="7030A0"/>
                </a:solidFill>
                <a:latin typeface="Arial"/>
              </a:rPr>
              <a:t>Оценить</a:t>
            </a:r>
            <a:r>
              <a:rPr sz="1800" dirty="0">
                <a:solidFill>
                  <a:srgbClr val="7030A0"/>
                </a:solidFill>
                <a:latin typeface="Arial"/>
              </a:rPr>
              <a:t> a и b </a:t>
            </a:r>
            <a:r>
              <a:rPr sz="1800" dirty="0" err="1">
                <a:solidFill>
                  <a:srgbClr val="7030A0"/>
                </a:solidFill>
                <a:latin typeface="Arial"/>
              </a:rPr>
              <a:t>методом</a:t>
            </a:r>
            <a:r>
              <a:rPr sz="1800" dirty="0">
                <a:solidFill>
                  <a:srgbClr val="7030A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7030A0"/>
                </a:solidFill>
                <a:latin typeface="Arial"/>
              </a:rPr>
              <a:t>наименьших</a:t>
            </a:r>
            <a:r>
              <a:rPr sz="1800" dirty="0">
                <a:solidFill>
                  <a:srgbClr val="7030A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7030A0"/>
                </a:solidFill>
                <a:latin typeface="Arial"/>
              </a:rPr>
              <a:t>квадратов</a:t>
            </a:r>
            <a:endParaRPr sz="1800" dirty="0">
              <a:solidFill>
                <a:srgbClr val="7030A0"/>
              </a:solidFill>
              <a:latin typeface="Arial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sz="1800" dirty="0">
                <a:solidFill>
                  <a:srgbClr val="7030A0"/>
                </a:solidFill>
                <a:latin typeface="Arial"/>
              </a:rPr>
              <a:t>Записать </a:t>
            </a:r>
            <a:r>
              <a:rPr sz="1800" dirty="0" err="1">
                <a:solidFill>
                  <a:srgbClr val="7030A0"/>
                </a:solidFill>
                <a:latin typeface="Arial"/>
              </a:rPr>
              <a:t>итоговое</a:t>
            </a:r>
            <a:r>
              <a:rPr sz="1800" dirty="0">
                <a:solidFill>
                  <a:srgbClr val="7030A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7030A0"/>
                </a:solidFill>
                <a:latin typeface="Arial"/>
              </a:rPr>
              <a:t>уравнение</a:t>
            </a:r>
            <a:r>
              <a:rPr sz="1800" dirty="0">
                <a:solidFill>
                  <a:srgbClr val="7030A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7030A0"/>
                </a:solidFill>
                <a:latin typeface="Arial"/>
              </a:rPr>
              <a:t>регрессии</a:t>
            </a:r>
            <a:endParaRPr sz="1800" dirty="0">
              <a:solidFill>
                <a:srgbClr val="7030A0"/>
              </a:solidFill>
              <a:latin typeface="Arial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sz="1800" dirty="0">
                <a:solidFill>
                  <a:srgbClr val="7030A0"/>
                </a:solidFill>
                <a:latin typeface="Arial"/>
              </a:rPr>
              <a:t>Построить </a:t>
            </a:r>
            <a:r>
              <a:rPr sz="1800" dirty="0" err="1">
                <a:solidFill>
                  <a:srgbClr val="7030A0"/>
                </a:solidFill>
                <a:latin typeface="Arial"/>
              </a:rPr>
              <a:t>линию</a:t>
            </a:r>
            <a:r>
              <a:rPr sz="1800" dirty="0">
                <a:solidFill>
                  <a:srgbClr val="7030A0"/>
                </a:solidFill>
                <a:latin typeface="Arial"/>
              </a:rPr>
              <a:t> на </a:t>
            </a:r>
            <a:r>
              <a:rPr sz="1800" dirty="0" err="1">
                <a:solidFill>
                  <a:srgbClr val="7030A0"/>
                </a:solidFill>
                <a:latin typeface="Arial"/>
              </a:rPr>
              <a:t>фоне</a:t>
            </a:r>
            <a:r>
              <a:rPr sz="1800" dirty="0">
                <a:solidFill>
                  <a:srgbClr val="7030A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7030A0"/>
                </a:solidFill>
                <a:latin typeface="Arial"/>
              </a:rPr>
              <a:t>исходных</a:t>
            </a:r>
            <a:r>
              <a:rPr sz="1800" dirty="0">
                <a:solidFill>
                  <a:srgbClr val="7030A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7030A0"/>
                </a:solidFill>
                <a:latin typeface="Arial"/>
              </a:rPr>
              <a:t>точек</a:t>
            </a:r>
            <a:endParaRPr sz="1800" dirty="0">
              <a:solidFill>
                <a:srgbClr val="7030A0"/>
              </a:solidFill>
              <a:latin typeface="Arial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sz="1800" dirty="0">
                <a:solidFill>
                  <a:srgbClr val="7030A0"/>
                </a:solidFill>
                <a:latin typeface="Arial"/>
              </a:rPr>
              <a:t>Получить </a:t>
            </a:r>
            <a:r>
              <a:rPr sz="1800" dirty="0" err="1">
                <a:solidFill>
                  <a:srgbClr val="7030A0"/>
                </a:solidFill>
                <a:latin typeface="Arial"/>
              </a:rPr>
              <a:t>прогнозные</a:t>
            </a:r>
            <a:r>
              <a:rPr sz="1800" dirty="0">
                <a:solidFill>
                  <a:srgbClr val="7030A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7030A0"/>
                </a:solidFill>
                <a:latin typeface="Arial"/>
              </a:rPr>
              <a:t>значения</a:t>
            </a:r>
            <a:r>
              <a:rPr sz="1800" dirty="0">
                <a:solidFill>
                  <a:srgbClr val="7030A0"/>
                </a:solidFill>
                <a:latin typeface="Arial"/>
              </a:rPr>
              <a:t> ŷᵢ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sz="1800" dirty="0">
                <a:solidFill>
                  <a:srgbClr val="7030A0"/>
                </a:solidFill>
                <a:latin typeface="Arial"/>
              </a:rPr>
              <a:t>Найти </a:t>
            </a:r>
            <a:r>
              <a:rPr sz="1800" dirty="0" err="1">
                <a:solidFill>
                  <a:srgbClr val="7030A0"/>
                </a:solidFill>
                <a:latin typeface="Arial"/>
              </a:rPr>
              <a:t>остатки</a:t>
            </a:r>
            <a:r>
              <a:rPr sz="1800" dirty="0">
                <a:solidFill>
                  <a:srgbClr val="7030A0"/>
                </a:solidFill>
                <a:latin typeface="Arial"/>
              </a:rPr>
              <a:t> eᵢ = yᵢ − ŷᵢ</a:t>
            </a:r>
            <a:r>
              <a:rPr lang="ru-RU" sz="1800" dirty="0">
                <a:solidFill>
                  <a:srgbClr val="7030A0"/>
                </a:solidFill>
                <a:latin typeface="Arial"/>
              </a:rPr>
              <a:t> и </a:t>
            </a:r>
            <a:r>
              <a:rPr lang="en-US" dirty="0">
                <a:solidFill>
                  <a:srgbClr val="7030A0"/>
                </a:solidFill>
                <a:latin typeface="Arial"/>
              </a:rPr>
              <a:t>RSS = </a:t>
            </a:r>
            <a:r>
              <a:rPr lang="el-GR" dirty="0">
                <a:solidFill>
                  <a:srgbClr val="7030A0"/>
                </a:solidFill>
                <a:latin typeface="Arial"/>
              </a:rPr>
              <a:t>Σ </a:t>
            </a:r>
            <a:r>
              <a:rPr lang="en-US" dirty="0">
                <a:solidFill>
                  <a:srgbClr val="7030A0"/>
                </a:solidFill>
                <a:latin typeface="Arial"/>
              </a:rPr>
              <a:t>eᵢ²</a:t>
            </a:r>
            <a:endParaRPr sz="1800" dirty="0">
              <a:solidFill>
                <a:srgbClr val="7030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1565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7655A-896D-CCB5-EB75-1901EE929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F76A90CF-A6DB-B37D-C683-9BAD2406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6 Квадратичная модель</a:t>
            </a:r>
            <a:endParaRPr lang="ru-RU" sz="31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FA6C51-A434-1B5A-91F6-077AA8EC2D84}"/>
              </a:ext>
            </a:extLst>
          </p:cNvPr>
          <p:cNvSpPr txBox="1"/>
          <p:nvPr/>
        </p:nvSpPr>
        <p:spPr>
          <a:xfrm>
            <a:off x="871572" y="1416022"/>
            <a:ext cx="626989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dirty="0">
                <a:solidFill>
                  <a:srgbClr val="E73A11"/>
                </a:solidFill>
                <a:latin typeface="Arial"/>
              </a:rPr>
              <a:t>Модель </a:t>
            </a:r>
            <a:r>
              <a:rPr sz="1900" dirty="0" err="1">
                <a:solidFill>
                  <a:srgbClr val="E73A11"/>
                </a:solidFill>
                <a:latin typeface="Arial"/>
              </a:rPr>
              <a:t>учитывает</a:t>
            </a:r>
            <a:r>
              <a:rPr sz="1900" dirty="0">
                <a:solidFill>
                  <a:srgbClr val="E73A11"/>
                </a:solidFill>
                <a:latin typeface="Arial"/>
              </a:rPr>
              <a:t> </a:t>
            </a:r>
            <a:r>
              <a:rPr sz="1900" dirty="0" err="1">
                <a:solidFill>
                  <a:srgbClr val="E73A11"/>
                </a:solidFill>
                <a:latin typeface="Arial"/>
              </a:rPr>
              <a:t>возможную</a:t>
            </a:r>
            <a:r>
              <a:rPr sz="1900" dirty="0">
                <a:solidFill>
                  <a:srgbClr val="E73A11"/>
                </a:solidFill>
                <a:latin typeface="Arial"/>
              </a:rPr>
              <a:t> </a:t>
            </a:r>
            <a:r>
              <a:rPr sz="1900" dirty="0" err="1">
                <a:solidFill>
                  <a:srgbClr val="E73A11"/>
                </a:solidFill>
                <a:latin typeface="Arial"/>
              </a:rPr>
              <a:t>кривизну</a:t>
            </a:r>
            <a:r>
              <a:rPr sz="1900" dirty="0">
                <a:solidFill>
                  <a:srgbClr val="E73A11"/>
                </a:solidFill>
                <a:latin typeface="Arial"/>
              </a:rPr>
              <a:t> </a:t>
            </a:r>
            <a:r>
              <a:rPr sz="1900" dirty="0" err="1">
                <a:solidFill>
                  <a:srgbClr val="E73A11"/>
                </a:solidFill>
                <a:latin typeface="Arial"/>
              </a:rPr>
              <a:t>зависимости</a:t>
            </a:r>
            <a:r>
              <a:rPr sz="1900" dirty="0">
                <a:solidFill>
                  <a:srgbClr val="E73A11"/>
                </a:solidFill>
                <a:latin typeface="Arial"/>
              </a:rPr>
              <a:t>:</a:t>
            </a:r>
            <a:endParaRPr lang="ru-RU" sz="1900" dirty="0">
              <a:solidFill>
                <a:srgbClr val="E73A11"/>
              </a:solidFill>
              <a:latin typeface="Arial"/>
            </a:endParaRPr>
          </a:p>
          <a:p>
            <a:pPr algn="ctr"/>
            <a:r>
              <a:rPr sz="1900" dirty="0">
                <a:solidFill>
                  <a:srgbClr val="E73A11"/>
                </a:solidFill>
                <a:latin typeface="Arial"/>
              </a:rPr>
              <a:t>  y = a + bx + cx²</a:t>
            </a:r>
            <a:endParaRPr lang="ru-RU" baseline="-25000" dirty="0">
              <a:solidFill>
                <a:srgbClr val="E73A11"/>
              </a:solidFill>
              <a:latin typeface="system-ui"/>
              <a:sym typeface="Symbol" panose="05050102010706020507" pitchFamily="18" charset="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F058F1-4EEB-78BC-1971-7D1A4218A858}"/>
              </a:ext>
            </a:extLst>
          </p:cNvPr>
          <p:cNvSpPr txBox="1"/>
          <p:nvPr/>
        </p:nvSpPr>
        <p:spPr>
          <a:xfrm>
            <a:off x="871572" y="2369850"/>
            <a:ext cx="6824382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sz="1800" dirty="0">
                <a:solidFill>
                  <a:srgbClr val="7030A0"/>
                </a:solidFill>
                <a:latin typeface="Arial"/>
              </a:rPr>
              <a:t>Оценить </a:t>
            </a:r>
            <a:r>
              <a:rPr sz="1800" dirty="0" err="1">
                <a:solidFill>
                  <a:srgbClr val="7030A0"/>
                </a:solidFill>
                <a:latin typeface="Arial"/>
              </a:rPr>
              <a:t>параметры</a:t>
            </a:r>
            <a:r>
              <a:rPr sz="1800" dirty="0">
                <a:solidFill>
                  <a:srgbClr val="7030A0"/>
                </a:solidFill>
                <a:latin typeface="Arial"/>
              </a:rPr>
              <a:t> a, b, c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sz="1800" dirty="0">
                <a:solidFill>
                  <a:srgbClr val="7030A0"/>
                </a:solidFill>
                <a:latin typeface="Arial"/>
              </a:rPr>
              <a:t>Построить </a:t>
            </a:r>
            <a:r>
              <a:rPr sz="1800" dirty="0" err="1">
                <a:solidFill>
                  <a:srgbClr val="7030A0"/>
                </a:solidFill>
                <a:latin typeface="Arial"/>
              </a:rPr>
              <a:t>параболу</a:t>
            </a:r>
            <a:r>
              <a:rPr sz="1800" dirty="0">
                <a:solidFill>
                  <a:srgbClr val="7030A0"/>
                </a:solidFill>
                <a:latin typeface="Arial"/>
              </a:rPr>
              <a:t> на </a:t>
            </a:r>
            <a:r>
              <a:rPr sz="1800" dirty="0" err="1">
                <a:solidFill>
                  <a:srgbClr val="7030A0"/>
                </a:solidFill>
                <a:latin typeface="Arial"/>
              </a:rPr>
              <a:t>диаграмме</a:t>
            </a:r>
            <a:r>
              <a:rPr sz="1800" dirty="0">
                <a:solidFill>
                  <a:srgbClr val="7030A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7030A0"/>
                </a:solidFill>
                <a:latin typeface="Arial"/>
              </a:rPr>
              <a:t>рассеяния</a:t>
            </a:r>
            <a:endParaRPr sz="1800" dirty="0">
              <a:solidFill>
                <a:srgbClr val="7030A0"/>
              </a:solidFill>
              <a:latin typeface="Arial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sz="1800" dirty="0">
                <a:solidFill>
                  <a:srgbClr val="7030A0"/>
                </a:solidFill>
                <a:latin typeface="Arial"/>
              </a:rPr>
              <a:t>Получить </a:t>
            </a:r>
            <a:r>
              <a:rPr sz="1800" dirty="0" err="1">
                <a:solidFill>
                  <a:srgbClr val="7030A0"/>
                </a:solidFill>
                <a:latin typeface="Arial"/>
              </a:rPr>
              <a:t>прогнозы</a:t>
            </a:r>
            <a:r>
              <a:rPr sz="1800" dirty="0">
                <a:solidFill>
                  <a:srgbClr val="7030A0"/>
                </a:solidFill>
                <a:latin typeface="Arial"/>
              </a:rPr>
              <a:t> для всех </a:t>
            </a:r>
            <a:r>
              <a:rPr sz="1800" dirty="0" err="1">
                <a:solidFill>
                  <a:srgbClr val="7030A0"/>
                </a:solidFill>
                <a:latin typeface="Arial"/>
              </a:rPr>
              <a:t>наблюдений</a:t>
            </a:r>
            <a:endParaRPr sz="1800" dirty="0">
              <a:solidFill>
                <a:srgbClr val="7030A0"/>
              </a:solidFill>
              <a:latin typeface="Arial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sz="1800" dirty="0" err="1">
                <a:solidFill>
                  <a:srgbClr val="7030A0"/>
                </a:solidFill>
                <a:latin typeface="Arial"/>
              </a:rPr>
              <a:t>Проверить</a:t>
            </a:r>
            <a:r>
              <a:rPr sz="1800" dirty="0">
                <a:solidFill>
                  <a:srgbClr val="7030A0"/>
                </a:solidFill>
                <a:latin typeface="Arial"/>
              </a:rPr>
              <a:t>, </a:t>
            </a:r>
            <a:r>
              <a:rPr sz="1800" dirty="0" err="1">
                <a:solidFill>
                  <a:srgbClr val="7030A0"/>
                </a:solidFill>
                <a:latin typeface="Arial"/>
              </a:rPr>
              <a:t>даёт</a:t>
            </a:r>
            <a:r>
              <a:rPr sz="1800" dirty="0">
                <a:solidFill>
                  <a:srgbClr val="7030A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7030A0"/>
                </a:solidFill>
                <a:latin typeface="Arial"/>
              </a:rPr>
              <a:t>ли</a:t>
            </a:r>
            <a:r>
              <a:rPr sz="1800" dirty="0">
                <a:solidFill>
                  <a:srgbClr val="7030A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7030A0"/>
                </a:solidFill>
                <a:latin typeface="Arial"/>
              </a:rPr>
              <a:t>усложнение</a:t>
            </a:r>
            <a:r>
              <a:rPr sz="1800" dirty="0">
                <a:solidFill>
                  <a:srgbClr val="7030A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7030A0"/>
                </a:solidFill>
                <a:latin typeface="Arial"/>
              </a:rPr>
              <a:t>выигрыш</a:t>
            </a:r>
            <a:r>
              <a:rPr sz="1800" dirty="0">
                <a:solidFill>
                  <a:srgbClr val="7030A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7030A0"/>
                </a:solidFill>
                <a:latin typeface="Arial"/>
              </a:rPr>
              <a:t>по</a:t>
            </a:r>
            <a:r>
              <a:rPr sz="1800" dirty="0">
                <a:solidFill>
                  <a:srgbClr val="7030A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7030A0"/>
                </a:solidFill>
                <a:latin typeface="Arial"/>
              </a:rPr>
              <a:t>качеству</a:t>
            </a:r>
            <a:endParaRPr sz="1800" dirty="0">
              <a:solidFill>
                <a:srgbClr val="7030A0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22FE62-CC84-20AB-6699-E405ADA7FA69}"/>
              </a:ext>
            </a:extLst>
          </p:cNvPr>
          <p:cNvSpPr txBox="1"/>
          <p:nvPr/>
        </p:nvSpPr>
        <p:spPr>
          <a:xfrm>
            <a:off x="3362706" y="1009682"/>
            <a:ext cx="43639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i="1" dirty="0">
                <a:solidFill>
                  <a:srgbClr val="7030A0"/>
                </a:solidFill>
              </a:rPr>
              <a:t>Иногда данным нужно чуть больше изгиба</a:t>
            </a:r>
          </a:p>
        </p:txBody>
      </p:sp>
    </p:spTree>
    <p:extLst>
      <p:ext uri="{BB962C8B-B14F-4D97-AF65-F5344CB8AC3E}">
        <p14:creationId xmlns:p14="http://schemas.microsoft.com/office/powerpoint/2010/main" val="3915813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755EC-C6B4-D13F-4883-57FD9AB98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44BE1B02-95FC-EA9C-C9A3-69F8FAD26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7 Дополнительная модель</a:t>
            </a:r>
            <a:endParaRPr lang="ru-RU" sz="31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E2E7D1-F671-28A3-746F-C0547920B2E9}"/>
              </a:ext>
            </a:extLst>
          </p:cNvPr>
          <p:cNvSpPr txBox="1"/>
          <p:nvPr/>
        </p:nvSpPr>
        <p:spPr>
          <a:xfrm>
            <a:off x="624683" y="1545066"/>
            <a:ext cx="7535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E73A11"/>
                </a:solidFill>
                <a:latin typeface="Arial"/>
              </a:rPr>
              <a:t>В карточке варианта назначается одна модель из четырёх</a:t>
            </a:r>
            <a:endParaRPr lang="ru-RU" baseline="-25000" dirty="0">
              <a:solidFill>
                <a:srgbClr val="E73A11"/>
              </a:solidFill>
              <a:latin typeface="system-ui"/>
              <a:sym typeface="Symbol" panose="05050102010706020507" pitchFamily="18" charset="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5580BA-9944-F29A-44BB-5757ED5FD196}"/>
              </a:ext>
            </a:extLst>
          </p:cNvPr>
          <p:cNvSpPr txBox="1"/>
          <p:nvPr/>
        </p:nvSpPr>
        <p:spPr>
          <a:xfrm>
            <a:off x="3337179" y="1067199"/>
            <a:ext cx="45998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1" i="1" dirty="0">
                <a:solidFill>
                  <a:srgbClr val="7030A0"/>
                </a:solidFill>
              </a:rPr>
              <a:t>Проверяем ещё один взгляд на зависимость</a:t>
            </a:r>
            <a:endParaRPr sz="1600" b="1" i="1" dirty="0">
              <a:solidFill>
                <a:srgbClr val="7030A0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C135CF-2918-F630-D350-75CFA7A5F964}"/>
              </a:ext>
            </a:extLst>
          </p:cNvPr>
          <p:cNvSpPr txBox="1"/>
          <p:nvPr/>
        </p:nvSpPr>
        <p:spPr>
          <a:xfrm>
            <a:off x="2536922" y="3865880"/>
            <a:ext cx="541595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dirty="0">
                <a:solidFill>
                  <a:srgbClr val="E73A11"/>
                </a:solidFill>
                <a:latin typeface="Arial"/>
              </a:rPr>
              <a:t>При </a:t>
            </a:r>
            <a:r>
              <a:rPr sz="1700" dirty="0" err="1">
                <a:solidFill>
                  <a:srgbClr val="E73A11"/>
                </a:solidFill>
                <a:latin typeface="Arial"/>
              </a:rPr>
              <a:t>необходимости</a:t>
            </a:r>
            <a:r>
              <a:rPr sz="1700" dirty="0">
                <a:solidFill>
                  <a:srgbClr val="E73A11"/>
                </a:solidFill>
                <a:latin typeface="Arial"/>
              </a:rPr>
              <a:t> </a:t>
            </a:r>
            <a:r>
              <a:rPr sz="1700" dirty="0" err="1">
                <a:solidFill>
                  <a:srgbClr val="E73A11"/>
                </a:solidFill>
                <a:latin typeface="Arial"/>
              </a:rPr>
              <a:t>выполнить</a:t>
            </a:r>
            <a:r>
              <a:rPr sz="1700" dirty="0">
                <a:solidFill>
                  <a:srgbClr val="E73A11"/>
                </a:solidFill>
                <a:latin typeface="Arial"/>
              </a:rPr>
              <a:t> </a:t>
            </a:r>
            <a:r>
              <a:rPr sz="1700" dirty="0" err="1">
                <a:solidFill>
                  <a:srgbClr val="E73A11"/>
                </a:solidFill>
                <a:latin typeface="Arial"/>
              </a:rPr>
              <a:t>линеаризацию</a:t>
            </a:r>
            <a:r>
              <a:rPr sz="1700" dirty="0">
                <a:solidFill>
                  <a:srgbClr val="E73A11"/>
                </a:solidFill>
                <a:latin typeface="Arial"/>
              </a:rPr>
              <a:t> и </a:t>
            </a:r>
            <a:endParaRPr lang="ru-RU" sz="1700" dirty="0">
              <a:solidFill>
                <a:srgbClr val="E73A11"/>
              </a:solidFill>
              <a:latin typeface="Arial"/>
            </a:endParaRPr>
          </a:p>
          <a:p>
            <a:r>
              <a:rPr sz="1700" dirty="0" err="1">
                <a:solidFill>
                  <a:srgbClr val="E73A11"/>
                </a:solidFill>
                <a:latin typeface="Arial"/>
              </a:rPr>
              <a:t>проверить</a:t>
            </a:r>
            <a:r>
              <a:rPr sz="1700" dirty="0">
                <a:solidFill>
                  <a:srgbClr val="E73A11"/>
                </a:solidFill>
                <a:latin typeface="Arial"/>
              </a:rPr>
              <a:t> </a:t>
            </a:r>
            <a:r>
              <a:rPr sz="1700" dirty="0" err="1">
                <a:solidFill>
                  <a:srgbClr val="E73A11"/>
                </a:solidFill>
                <a:latin typeface="Arial"/>
              </a:rPr>
              <a:t>область</a:t>
            </a:r>
            <a:r>
              <a:rPr sz="1700" dirty="0">
                <a:solidFill>
                  <a:srgbClr val="E73A11"/>
                </a:solidFill>
                <a:latin typeface="Arial"/>
              </a:rPr>
              <a:t> </a:t>
            </a:r>
            <a:r>
              <a:rPr sz="1700" dirty="0" err="1">
                <a:solidFill>
                  <a:srgbClr val="E73A11"/>
                </a:solidFill>
                <a:latin typeface="Arial"/>
              </a:rPr>
              <a:t>допустимых</a:t>
            </a:r>
            <a:r>
              <a:rPr sz="1700" dirty="0">
                <a:solidFill>
                  <a:srgbClr val="E73A11"/>
                </a:solidFill>
                <a:latin typeface="Arial"/>
              </a:rPr>
              <a:t> </a:t>
            </a:r>
            <a:r>
              <a:rPr sz="1700" dirty="0" err="1">
                <a:solidFill>
                  <a:srgbClr val="E73A11"/>
                </a:solidFill>
                <a:latin typeface="Arial"/>
              </a:rPr>
              <a:t>значений</a:t>
            </a:r>
            <a:endParaRPr sz="1700" dirty="0">
              <a:solidFill>
                <a:srgbClr val="E73A11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99AB4F-FDB3-130E-2545-256338A31BD2}"/>
              </a:ext>
            </a:extLst>
          </p:cNvPr>
          <p:cNvSpPr txBox="1"/>
          <p:nvPr/>
        </p:nvSpPr>
        <p:spPr>
          <a:xfrm>
            <a:off x="624683" y="1971585"/>
            <a:ext cx="3824478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sz="1800" dirty="0">
                <a:solidFill>
                  <a:srgbClr val="7030A0"/>
                </a:solidFill>
                <a:latin typeface="Arial"/>
              </a:rPr>
              <a:t>Показательная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sz="1800" dirty="0">
                <a:solidFill>
                  <a:srgbClr val="7030A0"/>
                </a:solidFill>
                <a:latin typeface="Arial"/>
              </a:rPr>
              <a:t>Степенная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sz="1800" dirty="0">
                <a:solidFill>
                  <a:srgbClr val="7030A0"/>
                </a:solidFill>
                <a:latin typeface="Arial"/>
              </a:rPr>
              <a:t>Полулогарифмическая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sz="1800" dirty="0">
                <a:solidFill>
                  <a:srgbClr val="7030A0"/>
                </a:solidFill>
                <a:latin typeface="Arial"/>
              </a:rPr>
              <a:t>Гиперболическая</a:t>
            </a:r>
          </a:p>
        </p:txBody>
      </p:sp>
    </p:spTree>
    <p:extLst>
      <p:ext uri="{BB962C8B-B14F-4D97-AF65-F5344CB8AC3E}">
        <p14:creationId xmlns:p14="http://schemas.microsoft.com/office/powerpoint/2010/main" val="714290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996EA-9291-24A1-DFD1-CF50533CE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C6A3F19B-8BAB-7087-E2EB-B2E293F6D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8 Сравнение моделей</a:t>
            </a:r>
            <a:endParaRPr lang="ru-RU" sz="31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FDE2DB-D188-9608-ACAA-F72C1FC43349}"/>
              </a:ext>
            </a:extLst>
          </p:cNvPr>
          <p:cNvSpPr txBox="1"/>
          <p:nvPr/>
        </p:nvSpPr>
        <p:spPr>
          <a:xfrm>
            <a:off x="551652" y="1615111"/>
            <a:ext cx="75714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solidFill>
                  <a:srgbClr val="E73A11"/>
                </a:solidFill>
                <a:latin typeface="Arial"/>
              </a:rPr>
              <a:t>Лучшая </a:t>
            </a:r>
            <a:r>
              <a:rPr sz="2000" dirty="0" err="1">
                <a:solidFill>
                  <a:srgbClr val="E73A11"/>
                </a:solidFill>
                <a:latin typeface="Arial"/>
              </a:rPr>
              <a:t>модель</a:t>
            </a:r>
            <a:r>
              <a:rPr sz="2000" dirty="0">
                <a:solidFill>
                  <a:srgbClr val="E73A11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E73A11"/>
                </a:solidFill>
                <a:latin typeface="Arial"/>
              </a:rPr>
              <a:t>выбирается</a:t>
            </a:r>
            <a:r>
              <a:rPr sz="2000" dirty="0">
                <a:solidFill>
                  <a:srgbClr val="E73A11"/>
                </a:solidFill>
                <a:latin typeface="Arial"/>
              </a:rPr>
              <a:t> не </a:t>
            </a:r>
            <a:r>
              <a:rPr sz="2000" dirty="0" err="1">
                <a:solidFill>
                  <a:srgbClr val="E73A11"/>
                </a:solidFill>
                <a:latin typeface="Arial"/>
              </a:rPr>
              <a:t>только</a:t>
            </a:r>
            <a:r>
              <a:rPr lang="ru-RU" sz="2000" dirty="0">
                <a:solidFill>
                  <a:srgbClr val="E73A11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E73A11"/>
                </a:solidFill>
                <a:latin typeface="Arial"/>
              </a:rPr>
              <a:t>по</a:t>
            </a:r>
            <a:r>
              <a:rPr sz="2000" dirty="0">
                <a:solidFill>
                  <a:srgbClr val="E73A11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E73A11"/>
                </a:solidFill>
                <a:latin typeface="Arial"/>
              </a:rPr>
              <a:t>одному</a:t>
            </a:r>
            <a:r>
              <a:rPr sz="2000" dirty="0">
                <a:solidFill>
                  <a:srgbClr val="E73A11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E73A11"/>
                </a:solidFill>
                <a:latin typeface="Arial"/>
              </a:rPr>
              <a:t>числу</a:t>
            </a:r>
            <a:endParaRPr lang="ru-RU" baseline="-25000" dirty="0">
              <a:solidFill>
                <a:srgbClr val="E73A11"/>
              </a:solidFill>
              <a:latin typeface="system-ui"/>
              <a:sym typeface="Symbol" panose="05050102010706020507" pitchFamily="18" charset="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24849B-E4E3-FCC8-8E1D-AB71FB836548}"/>
              </a:ext>
            </a:extLst>
          </p:cNvPr>
          <p:cNvSpPr txBox="1"/>
          <p:nvPr/>
        </p:nvSpPr>
        <p:spPr>
          <a:xfrm>
            <a:off x="2660611" y="1068698"/>
            <a:ext cx="51517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1" i="1" dirty="0">
                <a:solidFill>
                  <a:srgbClr val="7030A0"/>
                </a:solidFill>
              </a:rPr>
              <a:t>Сравниваем не обещания, а качество приближения</a:t>
            </a:r>
            <a:endParaRPr sz="1600" b="1" i="1" dirty="0">
              <a:solidFill>
                <a:srgbClr val="7030A0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8125AD-257E-557C-01D6-D3ED67B03EC5}"/>
              </a:ext>
            </a:extLst>
          </p:cNvPr>
          <p:cNvSpPr txBox="1"/>
          <p:nvPr/>
        </p:nvSpPr>
        <p:spPr>
          <a:xfrm>
            <a:off x="613796" y="2188644"/>
            <a:ext cx="7681405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sz="1800" dirty="0">
                <a:solidFill>
                  <a:srgbClr val="7030A0"/>
                </a:solidFill>
                <a:latin typeface="Arial"/>
              </a:rPr>
              <a:t>Вычислить </a:t>
            </a:r>
            <a:r>
              <a:rPr sz="1800" dirty="0" err="1">
                <a:solidFill>
                  <a:srgbClr val="7030A0"/>
                </a:solidFill>
                <a:latin typeface="Arial"/>
              </a:rPr>
              <a:t>коэффициент</a:t>
            </a:r>
            <a:r>
              <a:rPr sz="1800" dirty="0">
                <a:solidFill>
                  <a:srgbClr val="7030A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7030A0"/>
                </a:solidFill>
                <a:latin typeface="Arial"/>
              </a:rPr>
              <a:t>детерминации</a:t>
            </a:r>
            <a:r>
              <a:rPr sz="1800" dirty="0">
                <a:solidFill>
                  <a:srgbClr val="7030A0"/>
                </a:solidFill>
                <a:latin typeface="Arial"/>
              </a:rPr>
              <a:t> R²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sz="1800" dirty="0">
                <a:solidFill>
                  <a:srgbClr val="7030A0"/>
                </a:solidFill>
                <a:latin typeface="Arial"/>
              </a:rPr>
              <a:t>Найти </a:t>
            </a:r>
            <a:r>
              <a:rPr sz="1800" dirty="0" err="1">
                <a:solidFill>
                  <a:srgbClr val="7030A0"/>
                </a:solidFill>
                <a:latin typeface="Arial"/>
              </a:rPr>
              <a:t>среднюю</a:t>
            </a:r>
            <a:r>
              <a:rPr sz="1800" dirty="0">
                <a:solidFill>
                  <a:srgbClr val="7030A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7030A0"/>
                </a:solidFill>
                <a:latin typeface="Arial"/>
              </a:rPr>
              <a:t>ошибку</a:t>
            </a:r>
            <a:r>
              <a:rPr sz="1800" dirty="0">
                <a:solidFill>
                  <a:srgbClr val="7030A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7030A0"/>
                </a:solidFill>
                <a:latin typeface="Arial"/>
              </a:rPr>
              <a:t>аппроксимации</a:t>
            </a:r>
            <a:endParaRPr sz="1800" dirty="0">
              <a:solidFill>
                <a:srgbClr val="7030A0"/>
              </a:solidFill>
              <a:latin typeface="Arial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sz="1800" dirty="0" err="1">
                <a:solidFill>
                  <a:srgbClr val="7030A0"/>
                </a:solidFill>
                <a:latin typeface="Arial"/>
              </a:rPr>
              <a:t>Проанализировать</a:t>
            </a:r>
            <a:r>
              <a:rPr sz="1800" dirty="0">
                <a:solidFill>
                  <a:srgbClr val="7030A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7030A0"/>
                </a:solidFill>
                <a:latin typeface="Arial"/>
              </a:rPr>
              <a:t>графики</a:t>
            </a:r>
            <a:r>
              <a:rPr sz="1800" dirty="0">
                <a:solidFill>
                  <a:srgbClr val="7030A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7030A0"/>
                </a:solidFill>
                <a:latin typeface="Arial"/>
              </a:rPr>
              <a:t>остатков</a:t>
            </a:r>
            <a:endParaRPr sz="1800" dirty="0">
              <a:solidFill>
                <a:srgbClr val="7030A0"/>
              </a:solidFill>
              <a:latin typeface="Arial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sz="1800" dirty="0">
                <a:solidFill>
                  <a:srgbClr val="7030A0"/>
                </a:solidFill>
                <a:latin typeface="Arial"/>
              </a:rPr>
              <a:t>Учесть </a:t>
            </a:r>
            <a:r>
              <a:rPr sz="1800" dirty="0" err="1">
                <a:solidFill>
                  <a:srgbClr val="7030A0"/>
                </a:solidFill>
                <a:latin typeface="Arial"/>
              </a:rPr>
              <a:t>содержательную</a:t>
            </a:r>
            <a:r>
              <a:rPr sz="1800" dirty="0">
                <a:solidFill>
                  <a:srgbClr val="7030A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7030A0"/>
                </a:solidFill>
                <a:latin typeface="Arial"/>
              </a:rPr>
              <a:t>осмысленность</a:t>
            </a:r>
            <a:r>
              <a:rPr sz="1800" dirty="0">
                <a:solidFill>
                  <a:srgbClr val="7030A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7030A0"/>
                </a:solidFill>
                <a:latin typeface="Arial"/>
              </a:rPr>
              <a:t>модели</a:t>
            </a:r>
            <a:endParaRPr sz="1800" dirty="0">
              <a:solidFill>
                <a:srgbClr val="7030A0"/>
              </a:solidFill>
              <a:latin typeface="Arial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sz="1800" dirty="0">
                <a:solidFill>
                  <a:srgbClr val="7030A0"/>
                </a:solidFill>
                <a:latin typeface="Arial"/>
              </a:rPr>
              <a:t>Сделать </a:t>
            </a:r>
            <a:r>
              <a:rPr sz="1800" dirty="0" err="1">
                <a:solidFill>
                  <a:srgbClr val="7030A0"/>
                </a:solidFill>
                <a:latin typeface="Arial"/>
              </a:rPr>
              <a:t>вывод</a:t>
            </a:r>
            <a:r>
              <a:rPr sz="1800" dirty="0">
                <a:solidFill>
                  <a:srgbClr val="7030A0"/>
                </a:solidFill>
                <a:latin typeface="Arial"/>
              </a:rPr>
              <a:t>, </a:t>
            </a:r>
            <a:r>
              <a:rPr sz="1800" dirty="0" err="1">
                <a:solidFill>
                  <a:srgbClr val="7030A0"/>
                </a:solidFill>
                <a:latin typeface="Arial"/>
              </a:rPr>
              <a:t>какая</a:t>
            </a:r>
            <a:r>
              <a:rPr sz="1800" dirty="0">
                <a:solidFill>
                  <a:srgbClr val="7030A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7030A0"/>
                </a:solidFill>
                <a:latin typeface="Arial"/>
              </a:rPr>
              <a:t>модель</a:t>
            </a:r>
            <a:r>
              <a:rPr sz="1800" dirty="0">
                <a:solidFill>
                  <a:srgbClr val="7030A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7030A0"/>
                </a:solidFill>
                <a:latin typeface="Arial"/>
              </a:rPr>
              <a:t>лучше</a:t>
            </a:r>
            <a:r>
              <a:rPr sz="1800" dirty="0">
                <a:solidFill>
                  <a:srgbClr val="7030A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7030A0"/>
                </a:solidFill>
                <a:latin typeface="Arial"/>
              </a:rPr>
              <a:t>описывает</a:t>
            </a:r>
            <a:r>
              <a:rPr sz="1800" dirty="0">
                <a:solidFill>
                  <a:srgbClr val="7030A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7030A0"/>
                </a:solidFill>
                <a:latin typeface="Arial"/>
              </a:rPr>
              <a:t>зависимость</a:t>
            </a:r>
            <a:endParaRPr sz="1800" dirty="0">
              <a:solidFill>
                <a:srgbClr val="7030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94743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720EE-7318-CBC1-2340-3D584C06F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B36E6A95-8CAD-D2BD-1EC8-7AEF98068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9 Шкала оценивания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143000" y="1417320"/>
          <a:ext cx="630936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Элемент работы</a:t>
                      </a:r>
                    </a:p>
                  </a:txBody>
                  <a:tcPr marL="54864" marR="54864" marT="18288" marB="18288">
                    <a:solidFill>
                      <a:srgbClr val="E73A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Баллы</a:t>
                      </a:r>
                    </a:p>
                  </a:txBody>
                  <a:tcPr marL="54864" marR="54864" marT="18288" marB="18288">
                    <a:solidFill>
                      <a:srgbClr val="E73A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7030A0"/>
                          </a:solidFill>
                          <a:latin typeface="Arial"/>
                        </a:rPr>
                        <a:t>Описание источника данных, среза и первичный анализ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7030A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7030A0"/>
                          </a:solidFill>
                          <a:latin typeface="Arial"/>
                        </a:rPr>
                        <a:t>Построение линейной модели и интерпретация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7030A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7030A0"/>
                          </a:solidFill>
                          <a:latin typeface="Arial"/>
                        </a:rPr>
                        <a:t>Построение квадратичной модели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7030A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7030A0"/>
                          </a:solidFill>
                          <a:latin typeface="Arial"/>
                        </a:rPr>
                        <a:t>Построение дополнительной модели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7030A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7030A0"/>
                          </a:solidFill>
                          <a:latin typeface="Arial"/>
                        </a:rPr>
                        <a:t>Сравнение моделей и выбор лучшей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7030A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7030A0"/>
                          </a:solidFill>
                          <a:latin typeface="Arial"/>
                        </a:rPr>
                        <a:t>Статистический анализ линейной модели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7030A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7030A0"/>
                          </a:solidFill>
                          <a:latin typeface="Arial"/>
                        </a:rPr>
                        <a:t>Прогноз и итоговый вывод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7030A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marL="54864" marR="54864" marT="18288" marB="18288">
                    <a:solidFill>
                      <a:srgbClr val="E73A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64" marR="54864" marT="18288" marB="18288">
                    <a:solidFill>
                      <a:srgbClr val="E73A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8109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3F5AE-2BC4-94D3-F951-7EB81DFB4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B4BB7ECB-B892-23BA-1421-FF3077D6C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10 Подробный анализ линейной модели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051940-0D05-ABF3-4811-6AC771A82B38}"/>
              </a:ext>
            </a:extLst>
          </p:cNvPr>
          <p:cNvSpPr txBox="1"/>
          <p:nvPr/>
        </p:nvSpPr>
        <p:spPr>
          <a:xfrm>
            <a:off x="1038687" y="1065001"/>
            <a:ext cx="69478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1" i="1" dirty="0">
                <a:solidFill>
                  <a:srgbClr val="7030A0"/>
                </a:solidFill>
              </a:rPr>
              <a:t>Статистическая значимость превращает оценку обоснованный вывод</a:t>
            </a:r>
            <a:endParaRPr sz="1600" b="1" i="1" dirty="0">
              <a:solidFill>
                <a:srgbClr val="7030A0"/>
              </a:solidFill>
              <a:latin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DE18A0-1C9C-510B-E401-A376AB6FA511}"/>
              </a:ext>
            </a:extLst>
          </p:cNvPr>
          <p:cNvSpPr txBox="1"/>
          <p:nvPr/>
        </p:nvSpPr>
        <p:spPr>
          <a:xfrm>
            <a:off x="616227" y="1835768"/>
            <a:ext cx="7921486" cy="2398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ru-RU" sz="1700" dirty="0">
                <a:solidFill>
                  <a:srgbClr val="7030A0"/>
                </a:solidFill>
                <a:latin typeface="Arial"/>
              </a:rPr>
              <a:t>Рассчитать оценки â и b̂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sz="1700" dirty="0">
                <a:solidFill>
                  <a:srgbClr val="7030A0"/>
                </a:solidFill>
                <a:latin typeface="Arial"/>
              </a:rPr>
              <a:t>Получить прогнозы ŷᵢ и остатки eᵢ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sz="1700" dirty="0">
                <a:solidFill>
                  <a:srgbClr val="7030A0"/>
                </a:solidFill>
                <a:latin typeface="Arial"/>
              </a:rPr>
              <a:t>Вычислить RSS, s² = RSS/(n−2) и 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sz="1700" dirty="0">
                <a:solidFill>
                  <a:srgbClr val="7030A0"/>
                </a:solidFill>
                <a:latin typeface="Arial"/>
              </a:rPr>
              <a:t>Построить 95% доверительные интервалы для коэффициентов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sz="1700" dirty="0">
                <a:solidFill>
                  <a:srgbClr val="7030A0"/>
                </a:solidFill>
                <a:latin typeface="Arial"/>
              </a:rPr>
              <a:t>Проверить гипотеза H₀: b = 0 против H₁: b ≠ 0 при α = 0.05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sz="1700" dirty="0">
                <a:solidFill>
                  <a:srgbClr val="7030A0"/>
                </a:solidFill>
                <a:latin typeface="Arial"/>
              </a:rPr>
              <a:t>Сделать вывод о статистической значимости коэффициента при x</a:t>
            </a:r>
          </a:p>
        </p:txBody>
      </p:sp>
    </p:spTree>
    <p:extLst>
      <p:ext uri="{BB962C8B-B14F-4D97-AF65-F5344CB8AC3E}">
        <p14:creationId xmlns:p14="http://schemas.microsoft.com/office/powerpoint/2010/main" val="1637495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B2B2E-B6AC-9DEE-238B-2DE78516C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DF24FA7A-EC65-135F-F727-DECC03149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11 Ожидаемые результаты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7CEFFA-3E34-D478-8C34-9934DF24CF1A}"/>
              </a:ext>
            </a:extLst>
          </p:cNvPr>
          <p:cNvSpPr txBox="1"/>
          <p:nvPr/>
        </p:nvSpPr>
        <p:spPr>
          <a:xfrm>
            <a:off x="3282985" y="1016681"/>
            <a:ext cx="48400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1" i="1" dirty="0">
                <a:solidFill>
                  <a:srgbClr val="7030A0"/>
                </a:solidFill>
              </a:rPr>
              <a:t>Собираем результаты в одну понятную историю</a:t>
            </a:r>
            <a:endParaRPr sz="1500" b="1" i="1" dirty="0">
              <a:solidFill>
                <a:srgbClr val="7030A0"/>
              </a:solidFill>
              <a:latin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28B3DA-C61A-8528-AA36-15B895CF20CF}"/>
              </a:ext>
            </a:extLst>
          </p:cNvPr>
          <p:cNvSpPr txBox="1"/>
          <p:nvPr/>
        </p:nvSpPr>
        <p:spPr>
          <a:xfrm>
            <a:off x="611257" y="1541516"/>
            <a:ext cx="7921486" cy="2949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ru-RU" sz="1800" dirty="0">
                <a:solidFill>
                  <a:srgbClr val="7030A0"/>
                </a:solidFill>
                <a:latin typeface="Arial"/>
              </a:rPr>
              <a:t>Построены три регрессионные модели для реальных данных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sz="1800" dirty="0">
                <a:solidFill>
                  <a:srgbClr val="7030A0"/>
                </a:solidFill>
                <a:latin typeface="Arial"/>
              </a:rPr>
              <a:t>Для каждой модели записано уравнение и получены прогнозы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sz="1800" dirty="0">
                <a:solidFill>
                  <a:srgbClr val="7030A0"/>
                </a:solidFill>
                <a:latin typeface="Arial"/>
              </a:rPr>
              <a:t>Качество моделей сравнено по R², ошибке аппроксимации и остаткам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sz="1800" dirty="0">
                <a:solidFill>
                  <a:srgbClr val="7030A0"/>
                </a:solidFill>
                <a:latin typeface="Arial"/>
              </a:rPr>
              <a:t>Выбранная модель использована для прогноза при заданном x*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sz="1800" dirty="0">
                <a:solidFill>
                  <a:srgbClr val="7030A0"/>
                </a:solidFill>
                <a:latin typeface="Arial"/>
              </a:rPr>
              <a:t>Итоговый вывод объясняет зависимость на языке предметной области</a:t>
            </a:r>
          </a:p>
        </p:txBody>
      </p:sp>
    </p:spTree>
    <p:extLst>
      <p:ext uri="{BB962C8B-B14F-4D97-AF65-F5344CB8AC3E}">
        <p14:creationId xmlns:p14="http://schemas.microsoft.com/office/powerpoint/2010/main" val="3593482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01813"/>
            <a:ext cx="8229600" cy="620712"/>
          </a:xfrm>
        </p:spPr>
        <p:txBody>
          <a:bodyPr>
            <a:no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Спасибо</a:t>
            </a:r>
            <a:endParaRPr lang="en-US" sz="4400" dirty="0"/>
          </a:p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8649425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Тема1" id="{4DAE9245-FD5C-48A3-9F61-0C8FFBFAE07A}" vid="{20E0B42B-372D-46F0-B56F-89DFAD950D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6016</TotalTime>
  <Words>588</Words>
  <Application>Microsoft Office PowerPoint</Application>
  <PresentationFormat>Экран (16:9)</PresentationFormat>
  <Paragraphs>106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1" baseType="lpstr">
      <vt:lpstr>ALS Gorizont Bold Expanded</vt:lpstr>
      <vt:lpstr>Arial</vt:lpstr>
      <vt:lpstr>Calibri</vt:lpstr>
      <vt:lpstr>Golos Text</vt:lpstr>
      <vt:lpstr>Golos Text DemiBold</vt:lpstr>
      <vt:lpstr>system-ui</vt:lpstr>
      <vt:lpstr>Wingdings</vt:lpstr>
      <vt:lpstr>Тема1</vt:lpstr>
      <vt:lpstr>Презентация PowerPoint</vt:lpstr>
      <vt:lpstr>1 Цель работы</vt:lpstr>
      <vt:lpstr>2 Исходные данные и условия варианта</vt:lpstr>
      <vt:lpstr>3 Общая схема исследования</vt:lpstr>
      <vt:lpstr>4 Первичный анализ данных</vt:lpstr>
      <vt:lpstr>5 Линейная модель</vt:lpstr>
      <vt:lpstr>6 Квадратичная модель</vt:lpstr>
      <vt:lpstr>7 Дополнительная модель</vt:lpstr>
      <vt:lpstr>8 Сравнение моделей</vt:lpstr>
      <vt:lpstr>9 Шкала оценивания</vt:lpstr>
      <vt:lpstr>10 Подробный анализ линейной модели</vt:lpstr>
      <vt:lpstr>11 Ожидаемые результаты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</dc:creator>
  <cp:lastModifiedBy>Лукина Марина</cp:lastModifiedBy>
  <cp:revision>121</cp:revision>
  <dcterms:created xsi:type="dcterms:W3CDTF">2014-06-27T12:30:22Z</dcterms:created>
  <dcterms:modified xsi:type="dcterms:W3CDTF">2026-05-04T16:36:46Z</dcterms:modified>
</cp:coreProperties>
</file>